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7" r:id="rId5"/>
    <p:sldId id="263" r:id="rId6"/>
    <p:sldId id="264" r:id="rId7"/>
    <p:sldId id="265" r:id="rId8"/>
    <p:sldId id="266" r:id="rId9"/>
    <p:sldId id="261" r:id="rId10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3EA9-0D11-4A9F-5F19-F914CC9F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96FF7-2149-FA43-8D9F-0C8AF9AA8384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15F6-917C-EF67-E034-FF1D565E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4A0C1-FBB3-4F38-519A-33D39415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4F142-9742-334F-8D18-5F26B9CFFC85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39504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AC5A-EE92-A27F-4C7F-112362B5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4A2D6-BBF3-A64C-A879-70BCA23FDEE3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AEE8-F43F-08A1-1FF0-04A92A58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914AC-2F1B-DE91-42C2-D5FAFDE4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FD080-26C3-0840-92FE-852702D891ED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312458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11B8F-BB05-A96D-B4E2-27CC925D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520D8-1DED-9345-8673-1796B2F0A621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A118-675D-4A94-5F00-A055E124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4A4E4-AA43-EDE6-5D1D-EC44C00B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B1245-2E34-9440-A70A-9EE4106C0E61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15602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188709-5784-8331-D3C7-BA5CC4C1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BD962-28DA-A34B-9F68-5E75A0D13192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330710-3224-4918-949C-E4F657C3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DCD74B-F615-1A05-FC13-041E2DFB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89D02-0E26-4C48-8922-EEFEF28F99B4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715946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4084CE4-3D97-3492-E79D-0BCA57F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49284-EC1D-9947-9DF7-ADCB7A866B4B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66E978A-373F-C864-CF9E-84A07CD4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CD06D8-CE77-E111-A3A7-F70C9DE1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BF4C6-6436-944E-A780-1410E82073AB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371999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7DA813D-07A9-D670-D424-92C2541C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F59AE-E4C6-6044-911A-1641711F56B5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DFCF42-F4AD-B993-C657-62D4E410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65A000-864E-E028-C2F7-7F0ABFC5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8BD9E-45A9-A24F-8086-DB5CC3999D30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51930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99D70E3-211C-325F-CCA4-A7C38053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BE67E-FD83-ED4C-93D5-9DBEF89D12D9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7F5883-EEED-8A65-C1C5-7EEFA079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971A5B-1548-E8B2-BA8C-F70DD909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D66DA-3921-614F-BCDA-1F13F66673FC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61292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1F3714-278F-F2A0-08CF-8AF781762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DDE70-676F-6548-978D-8BADF8F910B3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23482F-D16E-4435-0618-6BF98937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BDA67A-AFCD-7472-D789-7F17132B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A2EB1-7554-1F45-98FC-7CBDC5C4FC8F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94635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D90ADC-5F58-4421-3800-A7807ED3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1FD91-4BB6-AF48-B855-C207EF585055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EA93094-C70D-3FBC-CAAA-08AA702F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D4B5116-3DE6-60DE-E78D-A0244FE7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02F132-4F2E-FD4C-9D6C-7B7CE8ABD81C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56937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11B97-E185-C8D5-70D0-2C648EE2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79DD8-D221-F245-A3BF-503243B2445B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55A43-946F-271D-B12B-7353F9DD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785AA-554F-B7B9-16B2-F04E1B3E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6A502-0DC7-1E4F-AEDC-C1226FE2D18E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15487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18476-9290-6B28-6293-77DF5ED4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D8C34-0A72-DC41-9527-8EC6B4D528FB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A14A1-0E95-F551-8EE9-552FB7DE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B575D-7C44-8ABE-1950-40EA3FA0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F9F42-4C87-F244-B659-1EEB310B0338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37055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735DAC2-1A8B-B1F7-4B5C-E3ACCA75BBD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IE"/>
              <a:t>Click to edit Master title style</a:t>
            </a:r>
            <a:endParaRPr lang="fr-FR" altLang="en-I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2E8860C-BD47-E70D-6A9E-9B4F3F72C1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IE"/>
              <a:t>Click to edit Master text styles</a:t>
            </a:r>
          </a:p>
          <a:p>
            <a:pPr lvl="1"/>
            <a:r>
              <a:rPr lang="en-US" altLang="en-IE"/>
              <a:t>Second level</a:t>
            </a:r>
          </a:p>
          <a:p>
            <a:pPr lvl="2"/>
            <a:r>
              <a:rPr lang="en-US" altLang="en-IE"/>
              <a:t>Third level</a:t>
            </a:r>
          </a:p>
          <a:p>
            <a:pPr lvl="3"/>
            <a:r>
              <a:rPr lang="en-US" altLang="en-IE"/>
              <a:t>Fourth level</a:t>
            </a:r>
          </a:p>
          <a:p>
            <a:pPr lvl="4"/>
            <a:r>
              <a:rPr lang="en-US" altLang="en-IE"/>
              <a:t>Fifth level</a:t>
            </a:r>
            <a:endParaRPr lang="fr-FR" alt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EC22E-76C7-2B10-AC90-32E43DDF7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8B85272-1667-174B-A10F-2A39CA9684C7}" type="datetimeFigureOut">
              <a:rPr lang="fr-FR"/>
              <a:pPr>
                <a:defRPr/>
              </a:pPr>
              <a:t>11/01/2026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6C0BC-AC82-25A5-7CF3-8A008F12A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362DE-2ACC-6CE1-2F24-1944F1D24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657507-64D1-D546-A406-659ACD6C4181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mailto:michael.scriney@dcu.ie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://www.netacad.com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34" descr="A computer with a white screen">
            <a:extLst>
              <a:ext uri="{FF2B5EF4-FFF2-40B4-BE49-F238E27FC236}">
                <a16:creationId xmlns:a16="http://schemas.microsoft.com/office/drawing/2014/main" id="{89AC8EB6-9632-09B3-6E79-F1C407EB0C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33E6EA-4F7E-8B33-E688-543B6C4A4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5" y="251133"/>
            <a:ext cx="3278415" cy="1412567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  <a:t>CSC 1010</a:t>
            </a:r>
            <a:b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  <a:t>Networks &amp; Internet</a:t>
            </a:r>
            <a:endParaRPr lang="fr-FR" sz="2200" spc="-15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315" name="Subtitle 2">
            <a:extLst>
              <a:ext uri="{FF2B5EF4-FFF2-40B4-BE49-F238E27FC236}">
                <a16:creationId xmlns:a16="http://schemas.microsoft.com/office/drawing/2014/main" id="{3DAEA46F-6EB4-D8EA-7F7B-EA7D98F65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372" y="2799200"/>
            <a:ext cx="2475840" cy="1053226"/>
          </a:xfrm>
        </p:spPr>
        <p:txBody>
          <a:bodyPr/>
          <a:lstStyle/>
          <a:p>
            <a:pPr algn="l" eaLnBrk="1" hangingPunct="1">
              <a:lnSpc>
                <a:spcPct val="100000"/>
              </a:lnSpc>
            </a:pPr>
            <a:r>
              <a:rPr lang="en-US" altLang="en-US" spc="-15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Module Description</a:t>
            </a:r>
            <a:endParaRPr lang="fr-FR" altLang="en-US" spc="-150" dirty="0">
              <a:solidFill>
                <a:schemeClr val="bg1"/>
              </a:solidFill>
              <a:latin typeface="Montserrat" panose="00000500000000000000" pitchFamily="2" charset="0"/>
              <a:ea typeface="+mj-ea"/>
              <a:cs typeface="+mj-cs"/>
            </a:endParaRPr>
          </a:p>
        </p:txBody>
      </p:sp>
      <p:sp>
        <p:nvSpPr>
          <p:cNvPr id="13316" name="TextBox 10">
            <a:extLst>
              <a:ext uri="{FF2B5EF4-FFF2-40B4-BE49-F238E27FC236}">
                <a16:creationId xmlns:a16="http://schemas.microsoft.com/office/drawing/2014/main" id="{6060747F-4020-07EF-0892-92D37CD3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61" y="2269222"/>
            <a:ext cx="2992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fr-FR" altLang="en-IE" sz="1800" spc="-15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Dr. Mohammed Amine TOGOU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4B7F6A-9786-0D4F-6FC5-157E9B86CC4A}"/>
              </a:ext>
            </a:extLst>
          </p:cNvPr>
          <p:cNvCxnSpPr/>
          <p:nvPr/>
        </p:nvCxnSpPr>
        <p:spPr>
          <a:xfrm>
            <a:off x="3419475" y="2592388"/>
            <a:ext cx="0" cy="11414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318" name="Picture 22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135E4D8B-D689-C84C-E484-54A44EEA1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25" y="1395413"/>
            <a:ext cx="6207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24" descr="A white arrow pointing to the left&#10;&#10;Description automatically generated">
            <a:extLst>
              <a:ext uri="{FF2B5EF4-FFF2-40B4-BE49-F238E27FC236}">
                <a16:creationId xmlns:a16="http://schemas.microsoft.com/office/drawing/2014/main" id="{CCB4A6B5-6790-0C6D-32D9-5DB7417FC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288" y="3927475"/>
            <a:ext cx="51117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TextBox 28">
            <a:extLst>
              <a:ext uri="{FF2B5EF4-FFF2-40B4-BE49-F238E27FC236}">
                <a16:creationId xmlns:a16="http://schemas.microsoft.com/office/drawing/2014/main" id="{DF62BE35-EFA1-0F9F-E5D0-280ADCEB8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chemeClr val="bg1"/>
                </a:solidFill>
                <a:latin typeface="Montserrat" pitchFamily="2" charset="77"/>
              </a:rPr>
              <a:t>1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580C249B-97D9-EA1D-1F47-C8ED9DA54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pic>
        <p:nvPicPr>
          <p:cNvPr id="4" name="Picture 2" descr="Picture showing cables connected to the switch">
            <a:extLst>
              <a:ext uri="{FF2B5EF4-FFF2-40B4-BE49-F238E27FC236}">
                <a16:creationId xmlns:a16="http://schemas.microsoft.com/office/drawing/2014/main" id="{2804282E-5DC2-A70B-885D-0122043BB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030" y="1541721"/>
            <a:ext cx="5732970" cy="36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576FD-A619-4C9D-6E31-913543102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fr-FR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Contact info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F86E253E-AF0D-5F07-000B-98E7CCEFA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2</a:t>
            </a:r>
          </a:p>
        </p:txBody>
      </p:sp>
      <p:sp>
        <p:nvSpPr>
          <p:cNvPr id="15365" name="TextBox 11">
            <a:extLst>
              <a:ext uri="{FF2B5EF4-FFF2-40B4-BE49-F238E27FC236}">
                <a16:creationId xmlns:a16="http://schemas.microsoft.com/office/drawing/2014/main" id="{D7FA5BAB-A587-65BF-5FBB-F625E0D79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643" y="6262687"/>
            <a:ext cx="4705131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Module information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518B1A-51A9-9F8D-7412-865B2A3B5850}"/>
              </a:ext>
            </a:extLst>
          </p:cNvPr>
          <p:cNvSpPr txBox="1"/>
          <p:nvPr/>
        </p:nvSpPr>
        <p:spPr>
          <a:xfrm>
            <a:off x="868362" y="1844476"/>
            <a:ext cx="9297988" cy="3435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Assistant Professor - School of Computing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E" sz="2800" dirty="0">
                <a:latin typeface="Montserrat" pitchFamily="2" charset="77"/>
              </a:rPr>
              <a:t>Office L2.50 (Second floor)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E" sz="2800" dirty="0">
                <a:latin typeface="Montserrat" pitchFamily="2" charset="77"/>
              </a:rPr>
              <a:t>Email: </a:t>
            </a:r>
            <a:r>
              <a:rPr lang="en-IE" sz="2800" dirty="0">
                <a:latin typeface="Montserrat" pitchFamily="2" charset="77"/>
                <a:hlinkClick r:id="rId2"/>
              </a:rPr>
              <a:t>mohammedamine.togou@dcu.ie</a:t>
            </a:r>
            <a:endParaRPr lang="en-IE" sz="2800" dirty="0">
              <a:latin typeface="Montserrat" pitchFamily="2" charset="77"/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E" sz="2800" dirty="0">
                <a:latin typeface="Montserrat" pitchFamily="2" charset="77"/>
              </a:rPr>
              <a:t>Phone: (01) 700 8929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E" sz="2800" dirty="0">
                <a:latin typeface="Montserrat" pitchFamily="2" charset="77"/>
              </a:rPr>
              <a:t>Email in advance for appointment!</a:t>
            </a: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fr-FR" sz="28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626AACD3-0630-95F8-E34A-BACC054E1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0C2B-9F59-56D4-AF7D-A8D20B29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7E45-7224-93E5-490D-88CC1E929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fr-FR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Course structure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E65ABA2B-4E65-1314-06AE-58DDC3E24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3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9E4FF100-8428-EF33-8590-B1491FDDF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04379-AD76-BA8F-B350-4FE8468592E9}"/>
              </a:ext>
            </a:extLst>
          </p:cNvPr>
          <p:cNvSpPr txBox="1">
            <a:spLocks/>
          </p:cNvSpPr>
          <p:nvPr/>
        </p:nvSpPr>
        <p:spPr bwMode="auto">
          <a:xfrm>
            <a:off x="834149" y="1227725"/>
            <a:ext cx="10716720" cy="5063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Lectures: </a:t>
            </a:r>
            <a:r>
              <a:rPr lang="en-GB" sz="2400" dirty="0">
                <a:latin typeface="Montserrat" pitchFamily="2" charset="77"/>
              </a:rPr>
              <a:t>Monday</a:t>
            </a:r>
            <a:r>
              <a:rPr lang="en-GB" dirty="0">
                <a:latin typeface="Montserrat" pitchFamily="2" charset="77"/>
              </a:rPr>
              <a:t>s from</a:t>
            </a:r>
            <a:r>
              <a:rPr lang="en-GB" sz="2400" dirty="0">
                <a:latin typeface="Montserrat" pitchFamily="2" charset="77"/>
              </a:rPr>
              <a:t> 3 to 5pm in SA301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Assessment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b="1" dirty="0">
                <a:latin typeface="Montserrat" pitchFamily="2" charset="77"/>
              </a:rPr>
              <a:t>Continuous assessment: 50% </a:t>
            </a:r>
          </a:p>
          <a:p>
            <a:pPr marL="1371600" lvl="2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Assignments: 15% (Weeks 3 and 6)</a:t>
            </a:r>
          </a:p>
          <a:p>
            <a:pPr marL="1828800" lvl="3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itchFamily="2" charset="77"/>
              </a:rPr>
              <a:t>Don’t inform me at the last minute in case of problems. I won’t be able to help you. </a:t>
            </a:r>
          </a:p>
          <a:p>
            <a:pPr marL="1371600" lvl="2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Quiz: 10% (Week 9)</a:t>
            </a:r>
          </a:p>
          <a:p>
            <a:pPr marL="1371600" lvl="2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Project: 25% (Week 11)</a:t>
            </a:r>
          </a:p>
          <a:p>
            <a:pPr marL="914400" lvl="1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3000" b="1" dirty="0">
                <a:latin typeface="Montserrat" pitchFamily="2" charset="77"/>
              </a:rPr>
              <a:t>Exam: 50%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F16AA9EB-3164-546C-04C8-3FAE6601C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643" y="6262687"/>
            <a:ext cx="4705131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Module information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552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B6BF3-64FD-F2C6-1D49-93A76FBB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3858-6273-F84D-74AF-A39341C25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fr-FR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Packet Tracer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71BF474A-18F4-CE98-595B-9BC020F37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4</a:t>
            </a:r>
          </a:p>
        </p:txBody>
      </p:sp>
      <p:sp>
        <p:nvSpPr>
          <p:cNvPr id="15365" name="TextBox 11">
            <a:extLst>
              <a:ext uri="{FF2B5EF4-FFF2-40B4-BE49-F238E27FC236}">
                <a16:creationId xmlns:a16="http://schemas.microsoft.com/office/drawing/2014/main" id="{6B8261A3-BEA1-02D8-58D4-89FEB3D83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643" y="6262687"/>
            <a:ext cx="4705131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Module information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E8A7B-1DFB-44A6-8647-9B46B48E5E6F}"/>
              </a:ext>
            </a:extLst>
          </p:cNvPr>
          <p:cNvSpPr txBox="1"/>
          <p:nvPr/>
        </p:nvSpPr>
        <p:spPr>
          <a:xfrm>
            <a:off x="708025" y="1406250"/>
            <a:ext cx="1124660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r-FR" sz="2600" noProof="1">
                <a:latin typeface="Montserrat" pitchFamily="2" charset="77"/>
              </a:rPr>
              <a:t>To complete the assignments and the project, you will need to install Cisco Packet Tracer. 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r-FR" sz="2600" noProof="1">
                <a:latin typeface="Montserrat" pitchFamily="2" charset="77"/>
              </a:rPr>
              <a:t>To do so, follow these steps:  </a:t>
            </a:r>
          </a:p>
          <a:p>
            <a:pPr marL="914400" lvl="1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r-FR" sz="2600" noProof="1">
                <a:latin typeface="Montserrat" pitchFamily="2" charset="77"/>
              </a:rPr>
              <a:t>Create an account on the platform: </a:t>
            </a:r>
            <a:r>
              <a:rPr lang="fr-FR" sz="2600" noProof="1">
                <a:latin typeface="Montserrat" pitchFamily="2" charset="77"/>
                <a:hlinkClick r:id="rId2"/>
              </a:rPr>
              <a:t>www.netacad.com</a:t>
            </a:r>
            <a:r>
              <a:rPr lang="fr-FR" sz="2600" noProof="1">
                <a:latin typeface="Montserrat" pitchFamily="2" charset="77"/>
              </a:rPr>
              <a:t> using your DCU email</a:t>
            </a:r>
          </a:p>
          <a:p>
            <a:pPr marL="914400" lvl="1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r-FR" sz="2600" noProof="1">
                <a:latin typeface="Montserrat" pitchFamily="2" charset="77"/>
              </a:rPr>
              <a:t>Once your account is set up, use the search bar at the top and type in </a:t>
            </a:r>
            <a:r>
              <a:rPr lang="fr-FR" sz="2600" b="1" i="1" noProof="1">
                <a:latin typeface="Montserrat" pitchFamily="2" charset="77"/>
              </a:rPr>
              <a:t>Cisco Packet Tracer Resources</a:t>
            </a:r>
            <a:r>
              <a:rPr lang="fr-FR" sz="2600" noProof="1">
                <a:latin typeface="Montserrat" pitchFamily="2" charset="77"/>
              </a:rPr>
              <a:t>. </a:t>
            </a:r>
          </a:p>
          <a:p>
            <a:pPr marL="914400" lvl="1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r-FR" sz="2600" noProof="1">
                <a:latin typeface="Montserrat" pitchFamily="2" charset="77"/>
              </a:rPr>
              <a:t>When it appears in the results, select it and click </a:t>
            </a:r>
            <a:r>
              <a:rPr lang="fr-FR" sz="2600" i="1" noProof="1">
                <a:latin typeface="Montserrat" pitchFamily="2" charset="77"/>
              </a:rPr>
              <a:t>Download</a:t>
            </a:r>
            <a:r>
              <a:rPr lang="fr-FR" sz="2600" noProof="1">
                <a:latin typeface="Montserrat" pitchFamily="2" charset="77"/>
              </a:rPr>
              <a:t> to get the tool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58A2798D-22E9-A9E7-2684-E273AA62A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2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53D70-CA40-B69B-A1DC-2BF30250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1B4C-2D36-CB4F-E862-3496BF209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fr-FR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A note about </a:t>
            </a:r>
            <a:r>
              <a:rPr lang="en-GB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attendance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3628BAE7-189A-7D0E-870C-255A53CE3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5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FAE3E7A5-A1E8-4B4D-DAE9-EE4302E57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B6C175-3116-636F-6D1B-F140F9E5ADA4}"/>
              </a:ext>
            </a:extLst>
          </p:cNvPr>
          <p:cNvSpPr txBox="1">
            <a:spLocks/>
          </p:cNvSpPr>
          <p:nvPr/>
        </p:nvSpPr>
        <p:spPr bwMode="auto">
          <a:xfrm>
            <a:off x="1041400" y="1468944"/>
            <a:ext cx="9905999" cy="573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dirty="0">
                <a:latin typeface="Montserrat" pitchFamily="2" charset="77"/>
              </a:rPr>
              <a:t>There are a lot of you !</a:t>
            </a:r>
          </a:p>
          <a:p>
            <a:endParaRPr lang="en-GB" sz="3200" dirty="0">
              <a:latin typeface="Montserrat" pitchFamily="2" charset="77"/>
            </a:endParaRPr>
          </a:p>
        </p:txBody>
      </p:sp>
      <p:pic>
        <p:nvPicPr>
          <p:cNvPr id="6" name="Picture 2" descr="Image result for students everywhere">
            <a:extLst>
              <a:ext uri="{FF2B5EF4-FFF2-40B4-BE49-F238E27FC236}">
                <a16:creationId xmlns:a16="http://schemas.microsoft.com/office/drawing/2014/main" id="{6D696F7B-00E4-4B8D-6789-349CA25A1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644" y="2452402"/>
            <a:ext cx="57150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llout: Line 4">
            <a:extLst>
              <a:ext uri="{FF2B5EF4-FFF2-40B4-BE49-F238E27FC236}">
                <a16:creationId xmlns:a16="http://schemas.microsoft.com/office/drawing/2014/main" id="{36FC6F77-811D-B715-23D0-AEDB13F94FF5}"/>
              </a:ext>
            </a:extLst>
          </p:cNvPr>
          <p:cNvSpPr/>
          <p:nvPr/>
        </p:nvSpPr>
        <p:spPr>
          <a:xfrm>
            <a:off x="1509734" y="2845319"/>
            <a:ext cx="1249365" cy="840876"/>
          </a:xfrm>
          <a:prstGeom prst="borderCallout1">
            <a:avLst>
              <a:gd name="adj1" fmla="val 48750"/>
              <a:gd name="adj2" fmla="val 103142"/>
              <a:gd name="adj3" fmla="val 83944"/>
              <a:gd name="adj4" fmla="val 2359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Me</a:t>
            </a:r>
          </a:p>
        </p:txBody>
      </p:sp>
      <p:sp>
        <p:nvSpPr>
          <p:cNvPr id="8" name="Callout: Line 6">
            <a:extLst>
              <a:ext uri="{FF2B5EF4-FFF2-40B4-BE49-F238E27FC236}">
                <a16:creationId xmlns:a16="http://schemas.microsoft.com/office/drawing/2014/main" id="{00266B0C-F04A-242A-B736-D9D1BA38A2F2}"/>
              </a:ext>
            </a:extLst>
          </p:cNvPr>
          <p:cNvSpPr/>
          <p:nvPr/>
        </p:nvSpPr>
        <p:spPr>
          <a:xfrm>
            <a:off x="9170281" y="2434940"/>
            <a:ext cx="2582912" cy="1181681"/>
          </a:xfrm>
          <a:prstGeom prst="borderCallout1">
            <a:avLst>
              <a:gd name="adj1" fmla="val 58554"/>
              <a:gd name="adj2" fmla="val -2277"/>
              <a:gd name="adj3" fmla="val 127865"/>
              <a:gd name="adj4" fmla="val -767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/>
              <a:t>Head of School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2F304B62-3679-2A8C-3AE1-29345E786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643" y="6262687"/>
            <a:ext cx="4705131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Module information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57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3700-5E66-FC0A-23C7-6EAEDAF2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006C-0685-4C32-6134-9003B51CD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fr-FR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A few directions…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9C72865D-6B4D-F618-2064-E03CE4930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6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E3F840E7-898D-ABE9-638D-91E12A87C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9187B9-B44A-9260-AA35-F4ED9143D728}"/>
              </a:ext>
            </a:extLst>
          </p:cNvPr>
          <p:cNvSpPr txBox="1">
            <a:spLocks/>
          </p:cNvSpPr>
          <p:nvPr/>
        </p:nvSpPr>
        <p:spPr>
          <a:xfrm>
            <a:off x="799626" y="1296535"/>
            <a:ext cx="10227365" cy="4264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Lecture sessions are a 2-way street</a:t>
            </a:r>
          </a:p>
          <a:p>
            <a:pPr marL="685800" lvl="1" indent="-4572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There are no stupid questions</a:t>
            </a:r>
          </a:p>
          <a:p>
            <a:pPr marL="685800" lvl="2" indent="-4572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You can ask questions during lectures or send me an email with the following subject: </a:t>
            </a:r>
          </a:p>
          <a:p>
            <a:pPr marL="0" lvl="2">
              <a:spcBef>
                <a:spcPts val="1200"/>
              </a:spcBef>
              <a:spcAft>
                <a:spcPts val="1000"/>
              </a:spcAft>
            </a:pPr>
            <a:r>
              <a:rPr lang="en-GB" sz="2800" dirty="0">
                <a:latin typeface="Montserrat" pitchFamily="2" charset="77"/>
              </a:rPr>
              <a:t>			[CSC1010] &lt;your inquiry&gt;</a:t>
            </a:r>
          </a:p>
          <a:p>
            <a:pPr marL="685800" lvl="1" indent="-4572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In case of a problem, contact me ASAP	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B10E0252-8444-83A7-8BE9-9F5EC199B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643" y="6262687"/>
            <a:ext cx="4705131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Module information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998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1F46-EAF4-A400-05BF-D666B201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A019-15C1-78ED-11A0-676555077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fr-FR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Topics </a:t>
            </a:r>
            <a:r>
              <a:rPr lang="en-GB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we’ll</a:t>
            </a:r>
            <a:r>
              <a:rPr lang="fr-FR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 cover in CSC 1010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859497C5-DFE3-A9C8-BBEA-2C0A480CF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7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3B4D55B1-FBFB-82F2-BF3C-1D2DB829F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15339-2F65-3ED8-19EF-70BA6A704235}"/>
              </a:ext>
            </a:extLst>
          </p:cNvPr>
          <p:cNvSpPr txBox="1">
            <a:spLocks/>
          </p:cNvSpPr>
          <p:nvPr/>
        </p:nvSpPr>
        <p:spPr bwMode="auto">
          <a:xfrm>
            <a:off x="1037351" y="1180709"/>
            <a:ext cx="9197538" cy="52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Layered network architectures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Network Devices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Communications Protocols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Local area networks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Internet Protocols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IP addressing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Data encoding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Network Tools</a:t>
            </a:r>
          </a:p>
          <a:p>
            <a:pPr marL="457200" indent="-457200" algn="l"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600" dirty="0">
                <a:latin typeface="Montserrat" pitchFamily="2" charset="77"/>
              </a:rPr>
              <a:t>The Web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FAC5045-7592-9169-DC5B-6F6422E70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643" y="6262687"/>
            <a:ext cx="4705131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Module information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13034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762BD-7195-5E8D-37F9-4EF5BAAC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71080-CAD8-84E7-7490-A6A3FD73D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Textbooks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28ADDBC4-3147-5AE6-D776-407C9C8B0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8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2EADC444-804A-D05C-B3C6-15D1F5BB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5128C-9FCF-6538-CD09-B2C897A58DA6}"/>
              </a:ext>
            </a:extLst>
          </p:cNvPr>
          <p:cNvSpPr txBox="1">
            <a:spLocks/>
          </p:cNvSpPr>
          <p:nvPr/>
        </p:nvSpPr>
        <p:spPr>
          <a:xfrm>
            <a:off x="982317" y="1296535"/>
            <a:ext cx="10227365" cy="4264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Tonnes of Internet resources available</a:t>
            </a:r>
          </a:p>
          <a:p>
            <a:pPr marL="685800" lvl="1" indent="-4572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Montserrat" pitchFamily="2" charset="77"/>
              </a:rPr>
              <a:t>If you do want a textbook</a:t>
            </a:r>
          </a:p>
          <a:p>
            <a:pPr marL="1143000" lvl="2" indent="-4572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E" sz="2800" dirty="0">
                <a:latin typeface="Montserrat" pitchFamily="2" charset="77"/>
              </a:rPr>
              <a:t>Computer networks by Andrew S Tanenbaum</a:t>
            </a:r>
          </a:p>
          <a:p>
            <a:pPr marL="1143000" lvl="2" indent="-457200"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E" sz="2800" dirty="0">
                <a:latin typeface="Montserrat" pitchFamily="2" charset="77"/>
              </a:rPr>
              <a:t>Computer networking: A top-down approach by Kurose &amp; Ross </a:t>
            </a:r>
          </a:p>
          <a:p>
            <a:pPr marL="685800" lvl="2">
              <a:spcAft>
                <a:spcPts val="1000"/>
              </a:spcAft>
            </a:pPr>
            <a:endParaRPr lang="en-IE" sz="3200" dirty="0"/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36F0B7D8-6E1D-D153-F347-7929E8ECB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643" y="6262687"/>
            <a:ext cx="4705131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Module information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7079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4">
            <a:extLst>
              <a:ext uri="{FF2B5EF4-FFF2-40B4-BE49-F238E27FC236}">
                <a16:creationId xmlns:a16="http://schemas.microsoft.com/office/drawing/2014/main" id="{9EF9CE5D-2CD4-A778-21F9-AF334E4F6D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9" descr="A black circle with white lines&#10;&#10;Description automatically generated">
            <a:extLst>
              <a:ext uri="{FF2B5EF4-FFF2-40B4-BE49-F238E27FC236}">
                <a16:creationId xmlns:a16="http://schemas.microsoft.com/office/drawing/2014/main" id="{F5CE9AB0-DA27-B625-3324-D31CAB0141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-1866900"/>
            <a:ext cx="10591800" cy="1059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Box 12">
            <a:extLst>
              <a:ext uri="{FF2B5EF4-FFF2-40B4-BE49-F238E27FC236}">
                <a16:creationId xmlns:a16="http://schemas.microsoft.com/office/drawing/2014/main" id="{410A1117-C895-7F95-D779-BB98A9C7E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921000"/>
            <a:ext cx="6096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6000" dirty="0">
                <a:solidFill>
                  <a:schemeClr val="bg1"/>
                </a:solidFill>
                <a:latin typeface="Montserrat Black" pitchFamily="2" charset="77"/>
              </a:rPr>
              <a:t>THANK YOU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71158C56-C02D-CA7C-BAE0-C24166CCB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BE13B5EB-77C3-E8E8-AF1E-E549A89E8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643" y="6262687"/>
            <a:ext cx="4705131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 Module information</a:t>
            </a:r>
            <a:endParaRPr lang="fr-FR" altLang="en-IE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 04.potm" id="{08C18694-8C13-4171-8942-D7EB2D7CD1DD}" vid="{EBB5CD0B-7472-4764-B38A-8AED69D4C7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</TotalTime>
  <Words>391</Words>
  <Application>Microsoft Macintosh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Montserrat</vt:lpstr>
      <vt:lpstr>Montserrat Black</vt:lpstr>
      <vt:lpstr>Montserrat Medium</vt:lpstr>
      <vt:lpstr>Office Theme</vt:lpstr>
      <vt:lpstr>CSC 1010 Networks &amp; Internet</vt:lpstr>
      <vt:lpstr>Contact info</vt:lpstr>
      <vt:lpstr>Course structure</vt:lpstr>
      <vt:lpstr>Packet Tracer</vt:lpstr>
      <vt:lpstr>A note about attendance</vt:lpstr>
      <vt:lpstr>A few directions…</vt:lpstr>
      <vt:lpstr>Topics we’ll cover in CSC 1010</vt:lpstr>
      <vt:lpstr>Textbooks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04: Databases</dc:title>
  <dc:creator>Omar MAKIL</dc:creator>
  <cp:lastModifiedBy>Mohammed Amine Togou</cp:lastModifiedBy>
  <cp:revision>32</cp:revision>
  <dcterms:created xsi:type="dcterms:W3CDTF">2023-07-12T08:21:59Z</dcterms:created>
  <dcterms:modified xsi:type="dcterms:W3CDTF">2026-01-11T12:15:08Z</dcterms:modified>
</cp:coreProperties>
</file>