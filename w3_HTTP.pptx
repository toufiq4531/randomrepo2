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2" r:id="rId4"/>
    <p:sldId id="260" r:id="rId5"/>
    <p:sldId id="310" r:id="rId6"/>
    <p:sldId id="311" r:id="rId7"/>
    <p:sldId id="312" r:id="rId8"/>
    <p:sldId id="313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263" r:id="rId17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7A81FF"/>
    <a:srgbClr val="FF2600"/>
    <a:srgbClr val="FF2F92"/>
    <a:srgbClr val="011893"/>
    <a:srgbClr val="008F00"/>
    <a:srgbClr val="009193"/>
    <a:srgbClr val="00FA00"/>
    <a:srgbClr val="00F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5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D25D6-AD40-5190-ADBA-80D024D0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9AE27-CB8E-6047-A601-B1CF4FA1CEB7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9F278-164F-3770-7D71-E4F77C7D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5C54B-FDEE-64FA-6726-80659D06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0ED55-D36F-894D-A2FC-B891B7765DC3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7571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C2C73-E0E2-443E-27BE-D9FE7683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3B8A7-481A-0C4E-B0B3-A791E79B92E2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7B387-F23F-516A-3718-883FDDDBD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A4EC0-CEE4-A90F-245B-127E09D7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BE105-DB31-0D43-8E45-72AEB12582D4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101955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BF004-5A01-51B2-4654-37C56588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EA1B0-237E-4246-A17E-CE323A194654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6A937-1E13-A53B-0F9F-9890E0E7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CE193-3E6D-19A1-8B1A-FB4F0B11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4F0C0-B4B3-604F-B6AE-0B6A770DF336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880160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D71255E-1A4B-17F9-077E-F2997908E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9AD7F-6693-D64F-8564-B274EF604E77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B60910-9220-87CF-ED25-EA0A5FC64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6899473-F7E5-A2FA-99E3-C9F8D4D1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3AC79-FDD7-8C4B-80E5-0DECDE777008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139123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F9BB39D-BB86-4566-279A-2213E2E7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27BAC-A2E4-D742-B1BA-FCD903854D63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AEDAE01-626E-D52D-BEC8-6FA66C45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A55A7D7-B34E-2988-302D-26D61543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AB8B4-E734-2040-938B-FE33A7A6C094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401626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14860FE-978D-6B03-FF0A-1C73377D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9F6D1-053E-684F-855A-E09F9FE3C4B8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63E3D8-CB41-9B88-04D4-5F179D5E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C5504E-A8DE-D69A-6F9E-C6B88BD4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4B9CA-FD38-8944-A660-7692FCE3C42A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69598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E738665-2986-5445-C324-650E716B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E68FB-44CF-4743-A4D6-E51CFC6828E1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E91DE41-ECDA-859E-3789-1283BC49F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7DE5931-6EB8-5570-2667-1532AB7B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D01D0-F93E-C846-A59D-058B515789DC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59291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F71449F-F176-B146-E23D-B748BF67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3FD21-0D40-8343-AD85-28644AA6D636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C8D442C-5703-C2B2-F157-014158D7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99DAB8-6D35-466E-EC0C-C55B7681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93D76-3E04-164A-8FC8-D490CBBBFF57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626257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BE9AED5-85E1-1638-7B84-F8DF5D9E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2C8F5-9C29-964A-9436-70DA29659C57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017BF0D-33FA-37D6-B801-CE2147EB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9C9A1B-8228-B122-16DA-25961078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B1B391-47D2-D240-8661-4BA9F8D1B69D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45248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D8284-E467-7123-53F6-B5F6F458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A3F002-5080-164E-8FCB-AF865BE8EAFE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D0C1D-A2EB-9E01-2BC9-414564F2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C3723-EA86-60F0-9B25-004B2547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3F37A-8E97-784D-9D7B-09EDCFC52062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329980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23305-DD0D-21CF-2E81-DE9940A9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603BC-A1AF-D941-A52D-59F4BFB4F5C8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8469D-C1BB-7503-F9ED-2EA602F71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389C9-5968-8439-6097-217A0E64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34FB4-A645-B841-9DF2-4B1E1B3C16F8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3535718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8648E00-7E2F-F358-8AEF-747D2F8E79A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IE"/>
              <a:t>Click to edit Master title style</a:t>
            </a:r>
            <a:endParaRPr lang="fr-FR" altLang="en-IE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5CCEEC-5D36-708B-8134-2ABF7775DC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IE"/>
              <a:t>Click to edit Master text styles</a:t>
            </a:r>
          </a:p>
          <a:p>
            <a:pPr lvl="1"/>
            <a:r>
              <a:rPr lang="en-US" altLang="en-IE"/>
              <a:t>Second level</a:t>
            </a:r>
          </a:p>
          <a:p>
            <a:pPr lvl="2"/>
            <a:r>
              <a:rPr lang="en-US" altLang="en-IE"/>
              <a:t>Third level</a:t>
            </a:r>
          </a:p>
          <a:p>
            <a:pPr lvl="3"/>
            <a:r>
              <a:rPr lang="en-US" altLang="en-IE"/>
              <a:t>Fourth level</a:t>
            </a:r>
          </a:p>
          <a:p>
            <a:pPr lvl="4"/>
            <a:r>
              <a:rPr lang="en-US" altLang="en-IE"/>
              <a:t>Fifth level</a:t>
            </a:r>
            <a:endParaRPr lang="fr-FR" alt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A6FF5-A612-95F9-6BC1-F84CDC47A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62576BC-B3D8-5046-9C5A-9FC256CD54D1}" type="datetimeFigureOut">
              <a:rPr lang="fr-FR"/>
              <a:pPr>
                <a:defRPr/>
              </a:pPr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48F13-A53A-09CC-899F-E1D2D6DF6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D6BDC-B7AE-2E99-92A0-9191BCB01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88038B2-D9B2-CA41-AF8D-68581B4B8E34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34" descr="A computer with a white screen">
            <a:extLst>
              <a:ext uri="{FF2B5EF4-FFF2-40B4-BE49-F238E27FC236}">
                <a16:creationId xmlns:a16="http://schemas.microsoft.com/office/drawing/2014/main" id="{89AC8EB6-9632-09B3-6E79-F1C407EB0C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33E6EA-4F7E-8B33-E688-543B6C4A4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5" y="251133"/>
            <a:ext cx="3278415" cy="1412567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  <a:t>CSC 1010</a:t>
            </a:r>
            <a:b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  <a:t>Networks &amp; Internet</a:t>
            </a:r>
            <a:endParaRPr lang="fr-FR" sz="2200" spc="-15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315" name="Subtitle 2">
            <a:extLst>
              <a:ext uri="{FF2B5EF4-FFF2-40B4-BE49-F238E27FC236}">
                <a16:creationId xmlns:a16="http://schemas.microsoft.com/office/drawing/2014/main" id="{3DAEA46F-6EB4-D8EA-7F7B-EA7D98F65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0717" y="3031583"/>
            <a:ext cx="3008313" cy="945506"/>
          </a:xfrm>
        </p:spPr>
        <p:txBody>
          <a:bodyPr/>
          <a:lstStyle/>
          <a:p>
            <a:pPr algn="l" eaLnBrk="1" hangingPunct="1">
              <a:lnSpc>
                <a:spcPct val="100000"/>
              </a:lnSpc>
            </a:pPr>
            <a:r>
              <a:rPr lang="en-US" altLang="en-US" spc="-15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Hypertext Transfer Protocol</a:t>
            </a:r>
            <a:endParaRPr lang="fr-FR" altLang="en-US" spc="-150" dirty="0">
              <a:solidFill>
                <a:schemeClr val="bg1"/>
              </a:solidFill>
              <a:latin typeface="Montserrat" panose="00000500000000000000" pitchFamily="2" charset="0"/>
              <a:ea typeface="+mj-ea"/>
              <a:cs typeface="+mj-cs"/>
            </a:endParaRPr>
          </a:p>
        </p:txBody>
      </p:sp>
      <p:sp>
        <p:nvSpPr>
          <p:cNvPr id="13316" name="TextBox 10">
            <a:extLst>
              <a:ext uri="{FF2B5EF4-FFF2-40B4-BE49-F238E27FC236}">
                <a16:creationId xmlns:a16="http://schemas.microsoft.com/office/drawing/2014/main" id="{6060747F-4020-07EF-0892-92D37CD3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90" y="2269222"/>
            <a:ext cx="2992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fr-FR" altLang="en-IE" sz="1800" spc="-15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Dr. Mohammed Amine TOGOU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D4B7F6A-9786-0D4F-6FC5-157E9B86CC4A}"/>
              </a:ext>
            </a:extLst>
          </p:cNvPr>
          <p:cNvCxnSpPr/>
          <p:nvPr/>
        </p:nvCxnSpPr>
        <p:spPr>
          <a:xfrm>
            <a:off x="3419475" y="2592388"/>
            <a:ext cx="0" cy="11414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318" name="Picture 22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135E4D8B-D689-C84C-E484-54A44EEA1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725" y="1395413"/>
            <a:ext cx="6207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24" descr="A white arrow pointing to the left&#10;&#10;Description automatically generated">
            <a:extLst>
              <a:ext uri="{FF2B5EF4-FFF2-40B4-BE49-F238E27FC236}">
                <a16:creationId xmlns:a16="http://schemas.microsoft.com/office/drawing/2014/main" id="{CCB4A6B5-6790-0C6D-32D9-5DB7417FC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288" y="3927475"/>
            <a:ext cx="51117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TextBox 28">
            <a:extLst>
              <a:ext uri="{FF2B5EF4-FFF2-40B4-BE49-F238E27FC236}">
                <a16:creationId xmlns:a16="http://schemas.microsoft.com/office/drawing/2014/main" id="{DF62BE35-EFA1-0F9F-E5D0-280ADCEB8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chemeClr val="bg1"/>
                </a:solidFill>
                <a:latin typeface="Montserrat" pitchFamily="2" charset="77"/>
              </a:rPr>
              <a:t>1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580C249B-97D9-EA1D-1F47-C8ED9DA54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pic>
        <p:nvPicPr>
          <p:cNvPr id="4" name="Picture 2" descr="Picture showing cables connected to the switch">
            <a:extLst>
              <a:ext uri="{FF2B5EF4-FFF2-40B4-BE49-F238E27FC236}">
                <a16:creationId xmlns:a16="http://schemas.microsoft.com/office/drawing/2014/main" id="{2804282E-5DC2-A70B-885D-0122043BB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030" y="1541721"/>
            <a:ext cx="5732970" cy="360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>
            <a:extLst>
              <a:ext uri="{FF2B5EF4-FFF2-40B4-BE49-F238E27FC236}">
                <a16:creationId xmlns:a16="http://schemas.microsoft.com/office/drawing/2014/main" id="{2B0004F3-CDA3-CE23-BCA8-B30EB8B0C6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3651B2-D3A0-1CD1-3A4D-CF84C0239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US" sz="2400" spc="-150" dirty="0">
                <a:solidFill>
                  <a:schemeClr val="bg1"/>
                </a:solidFill>
                <a:latin typeface="Montserrat Medium" panose="00000600000000000000" pitchFamily="50" charset="0"/>
              </a:rPr>
              <a:t>Learning outcomes</a:t>
            </a:r>
            <a:endParaRPr lang="fr-FR" sz="2400" spc="-150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4339" name="Subtitle 2">
            <a:extLst>
              <a:ext uri="{FF2B5EF4-FFF2-40B4-BE49-F238E27FC236}">
                <a16:creationId xmlns:a16="http://schemas.microsoft.com/office/drawing/2014/main" id="{AC848A46-FA88-0C27-4B03-E6737E66B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3" y="2816225"/>
            <a:ext cx="6092169" cy="1670050"/>
          </a:xfrm>
        </p:spPr>
        <p:txBody>
          <a:bodyPr/>
          <a:lstStyle/>
          <a:p>
            <a:pPr algn="l" eaLnBrk="1" hangingPunct="1">
              <a:lnSpc>
                <a:spcPct val="100000"/>
              </a:lnSpc>
            </a:pPr>
            <a:r>
              <a:rPr lang="en-IE" altLang="en-IE" sz="1600" dirty="0">
                <a:solidFill>
                  <a:schemeClr val="bg1"/>
                </a:solidFill>
                <a:latin typeface="Montserrat" pitchFamily="2" charset="77"/>
              </a:rPr>
              <a:t>• Describe the services provided by HTTP</a:t>
            </a:r>
          </a:p>
          <a:p>
            <a:pPr algn="l" eaLnBrk="1" hangingPunct="1">
              <a:lnSpc>
                <a:spcPct val="100000"/>
              </a:lnSpc>
            </a:pPr>
            <a:r>
              <a:rPr lang="en-IE" altLang="en-IE" sz="1600" dirty="0">
                <a:solidFill>
                  <a:schemeClr val="bg1"/>
                </a:solidFill>
                <a:latin typeface="Montserrat" pitchFamily="2" charset="77"/>
              </a:rPr>
              <a:t>• List the HTTP requests and when can be used </a:t>
            </a:r>
          </a:p>
          <a:p>
            <a:pPr algn="l" eaLnBrk="1" hangingPunct="1">
              <a:lnSpc>
                <a:spcPct val="100000"/>
              </a:lnSpc>
            </a:pPr>
            <a:r>
              <a:rPr lang="en-IE" altLang="en-IE" sz="1600" dirty="0">
                <a:solidFill>
                  <a:schemeClr val="bg1"/>
                </a:solidFill>
                <a:latin typeface="Montserrat" pitchFamily="2" charset="77"/>
              </a:rPr>
              <a:t>• Explain the HTTP response codes</a:t>
            </a:r>
          </a:p>
        </p:txBody>
      </p:sp>
      <p:pic>
        <p:nvPicPr>
          <p:cNvPr id="14340" name="Picture 22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4639F8CC-179B-24DE-C3DC-76571EA54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73575">
            <a:off x="5684838" y="2008188"/>
            <a:ext cx="62071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24" descr="A white arrow pointing to the left&#10;&#10;Description automatically generated">
            <a:extLst>
              <a:ext uri="{FF2B5EF4-FFF2-40B4-BE49-F238E27FC236}">
                <a16:creationId xmlns:a16="http://schemas.microsoft.com/office/drawing/2014/main" id="{D165507B-B359-0588-4361-9C8BCFE37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041935">
            <a:off x="4366258" y="4734023"/>
            <a:ext cx="512763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26" descr="A white line on a black background&#10;&#10;Description automatically generated">
            <a:extLst>
              <a:ext uri="{FF2B5EF4-FFF2-40B4-BE49-F238E27FC236}">
                <a16:creationId xmlns:a16="http://schemas.microsoft.com/office/drawing/2014/main" id="{D8C9F522-8612-B175-ABE2-FDF510DF5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985770">
            <a:off x="1223963" y="2000250"/>
            <a:ext cx="41275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Box 28">
            <a:extLst>
              <a:ext uri="{FF2B5EF4-FFF2-40B4-BE49-F238E27FC236}">
                <a16:creationId xmlns:a16="http://schemas.microsoft.com/office/drawing/2014/main" id="{4B79C90F-735D-839A-66E0-F717B39BA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chemeClr val="bg1"/>
                </a:solidFill>
                <a:latin typeface="Montserrat" pitchFamily="2" charset="77"/>
              </a:rPr>
              <a:t>2</a:t>
            </a:r>
          </a:p>
        </p:txBody>
      </p:sp>
      <p:pic>
        <p:nvPicPr>
          <p:cNvPr id="14346" name="Picture 13" descr="A group of people working on a project&#10;&#10;Description automatically generated">
            <a:extLst>
              <a:ext uri="{FF2B5EF4-FFF2-40B4-BE49-F238E27FC236}">
                <a16:creationId xmlns:a16="http://schemas.microsoft.com/office/drawing/2014/main" id="{B1A2F9E3-4EF0-8548-8907-F1936A98BF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913" y="1674813"/>
            <a:ext cx="4881562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16">
            <a:extLst>
              <a:ext uri="{FF2B5EF4-FFF2-40B4-BE49-F238E27FC236}">
                <a16:creationId xmlns:a16="http://schemas.microsoft.com/office/drawing/2014/main" id="{5DF36440-E4D8-CE9F-A53E-C88E37BD5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2528" y="6323826"/>
            <a:ext cx="3401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CSC 1010: Networks and Internet  |  </a:t>
            </a:r>
            <a:r>
              <a:rPr lang="en-GB" altLang="en-IE" sz="1200" dirty="0">
                <a:solidFill>
                  <a:schemeClr val="bg1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059FD3B2-432E-2D8C-3E7C-F6637C0D76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GB" sz="2400" spc="-150" noProof="0" dirty="0">
                <a:solidFill>
                  <a:srgbClr val="294BF9"/>
                </a:solidFill>
                <a:latin typeface="Montserrat Medium" panose="00000600000000000000" pitchFamily="50" charset="0"/>
              </a:rPr>
              <a:t>Web browsing – data encapsulation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3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CA4630-87F0-29A8-6196-106EF2DBA1BC}"/>
              </a:ext>
            </a:extLst>
          </p:cNvPr>
          <p:cNvSpPr/>
          <p:nvPr/>
        </p:nvSpPr>
        <p:spPr>
          <a:xfrm>
            <a:off x="1294782" y="3123932"/>
            <a:ext cx="2753710" cy="68738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Application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3A2E6A-6C48-7AB7-16D7-3FCC2316BE6B}"/>
              </a:ext>
            </a:extLst>
          </p:cNvPr>
          <p:cNvSpPr/>
          <p:nvPr/>
        </p:nvSpPr>
        <p:spPr>
          <a:xfrm>
            <a:off x="9394294" y="2133267"/>
            <a:ext cx="1248508" cy="558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User data</a:t>
            </a:r>
          </a:p>
          <a:p>
            <a:pPr algn="ctr"/>
            <a:r>
              <a:rPr lang="en-GB" sz="1400" dirty="0">
                <a:latin typeface="Montserrat" panose="00000500000000000000" pitchFamily="2" charset="0"/>
              </a:rPr>
              <a:t>www.dcu.ie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BDCD46-FD86-9ED7-22BC-62DD99BA94B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018548" y="2691473"/>
            <a:ext cx="0" cy="4970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FCB28D8-3071-55BD-AD31-4602538762EF}"/>
              </a:ext>
            </a:extLst>
          </p:cNvPr>
          <p:cNvSpPr/>
          <p:nvPr/>
        </p:nvSpPr>
        <p:spPr>
          <a:xfrm>
            <a:off x="9384664" y="3211339"/>
            <a:ext cx="1248508" cy="558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User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CEF7E-F4CD-51F9-90E3-E17947959893}"/>
              </a:ext>
            </a:extLst>
          </p:cNvPr>
          <p:cNvSpPr/>
          <p:nvPr/>
        </p:nvSpPr>
        <p:spPr>
          <a:xfrm>
            <a:off x="8078125" y="3211339"/>
            <a:ext cx="1306539" cy="55820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HTTP header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CC5644AD-4A5A-6C26-7021-0E9BEEE85A52}"/>
              </a:ext>
            </a:extLst>
          </p:cNvPr>
          <p:cNvSpPr/>
          <p:nvPr/>
        </p:nvSpPr>
        <p:spPr>
          <a:xfrm rot="5400000">
            <a:off x="9257011" y="1815358"/>
            <a:ext cx="186725" cy="2565595"/>
          </a:xfrm>
          <a:prstGeom prst="leftBrace">
            <a:avLst>
              <a:gd name="adj1" fmla="val 6490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BFEF64-D189-69C4-047C-3A47B67A2229}"/>
              </a:ext>
            </a:extLst>
          </p:cNvPr>
          <p:cNvSpPr txBox="1"/>
          <p:nvPr/>
        </p:nvSpPr>
        <p:spPr>
          <a:xfrm>
            <a:off x="8217930" y="2640920"/>
            <a:ext cx="965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Montserrat" panose="00000500000000000000" pitchFamily="2" charset="0"/>
              </a:rPr>
              <a:t>PDU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AF129-127E-27B3-C3DC-4418FB5685D6}"/>
              </a:ext>
            </a:extLst>
          </p:cNvPr>
          <p:cNvSpPr txBox="1"/>
          <p:nvPr/>
        </p:nvSpPr>
        <p:spPr>
          <a:xfrm>
            <a:off x="1644348" y="2291363"/>
            <a:ext cx="2054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latin typeface="Montserrat" pitchFamily="2" charset="77"/>
              </a:rPr>
              <a:t>TCP/IP Model</a:t>
            </a: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70324C13-2908-E30B-B2EB-E2E858E38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9164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6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Hypertext Transfer Protocol (HTTP)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4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4" name="TextBox 11">
            <a:extLst>
              <a:ext uri="{FF2B5EF4-FFF2-40B4-BE49-F238E27FC236}">
                <a16:creationId xmlns:a16="http://schemas.microsoft.com/office/drawing/2014/main" id="{6ABA8FCB-766B-1979-BDD4-A540DB4C4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FFDA4D-8586-E296-E004-5513FA547ACD}"/>
              </a:ext>
            </a:extLst>
          </p:cNvPr>
          <p:cNvSpPr txBox="1">
            <a:spLocks/>
          </p:cNvSpPr>
          <p:nvPr/>
        </p:nvSpPr>
        <p:spPr bwMode="auto">
          <a:xfrm>
            <a:off x="1083711" y="1524911"/>
            <a:ext cx="10024577" cy="43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30000"/>
              </a:lnSpc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Think of it as the language of the web </a:t>
            </a:r>
          </a:p>
          <a:p>
            <a:pPr marL="457200" indent="-457200" algn="l">
              <a:lnSpc>
                <a:spcPct val="130000"/>
              </a:lnSpc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Was released in 1991</a:t>
            </a:r>
          </a:p>
          <a:p>
            <a:pPr marL="457200" indent="-457200" algn="l">
              <a:lnSpc>
                <a:spcPct val="130000"/>
              </a:lnSpc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Uses a client-server architecture</a:t>
            </a:r>
          </a:p>
          <a:p>
            <a:pPr marL="457200" indent="-457200" algn="l">
              <a:lnSpc>
                <a:spcPct val="130000"/>
              </a:lnSpc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HTTP packets can transport just about anything</a:t>
            </a:r>
          </a:p>
          <a:p>
            <a:pPr marL="914400" lvl="1" indent="-457200" algn="l">
              <a:lnSpc>
                <a:spcPct val="130000"/>
              </a:lnSpc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HTML, XML, JSON</a:t>
            </a:r>
          </a:p>
          <a:p>
            <a:pPr marL="685800" lvl="1" indent="-4572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55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Uniform Resource Locator (URL)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5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0D0434-CABF-9498-D2E8-F01BE415469A}"/>
              </a:ext>
            </a:extLst>
          </p:cNvPr>
          <p:cNvSpPr txBox="1">
            <a:spLocks/>
          </p:cNvSpPr>
          <p:nvPr/>
        </p:nvSpPr>
        <p:spPr bwMode="auto">
          <a:xfrm>
            <a:off x="1235247" y="1455146"/>
            <a:ext cx="10024577" cy="2174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HTTP requires a URL to be passed to it </a:t>
            </a:r>
          </a:p>
          <a:p>
            <a:pPr marL="457200" indent="-45720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A URL is more than just a domain name</a:t>
            </a:r>
          </a:p>
          <a:p>
            <a:pPr marL="457200" indent="-45720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It includes a protocol, a path, and some parameters </a:t>
            </a:r>
          </a:p>
          <a:p>
            <a:pPr marL="685800" lvl="1" indent="-4572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400" dirty="0">
              <a:latin typeface="Montserrat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B971EC-63B7-59BA-7208-618BFC3BB798}"/>
              </a:ext>
            </a:extLst>
          </p:cNvPr>
          <p:cNvSpPr/>
          <p:nvPr/>
        </p:nvSpPr>
        <p:spPr>
          <a:xfrm>
            <a:off x="932176" y="3881346"/>
            <a:ext cx="9748801" cy="9869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600" dirty="0"/>
              <a:t>https://loop.dcu.ie/course/view.php?id=57757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3DDC56-7A19-AB01-15B3-DCEE025E179D}"/>
              </a:ext>
            </a:extLst>
          </p:cNvPr>
          <p:cNvSpPr/>
          <p:nvPr/>
        </p:nvSpPr>
        <p:spPr>
          <a:xfrm>
            <a:off x="1498434" y="4107332"/>
            <a:ext cx="935245" cy="6277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allout: Up Arrow 8">
            <a:extLst>
              <a:ext uri="{FF2B5EF4-FFF2-40B4-BE49-F238E27FC236}">
                <a16:creationId xmlns:a16="http://schemas.microsoft.com/office/drawing/2014/main" id="{6221F3EC-52C6-C46C-9B69-0EC7BFD75221}"/>
              </a:ext>
            </a:extLst>
          </p:cNvPr>
          <p:cNvSpPr/>
          <p:nvPr/>
        </p:nvSpPr>
        <p:spPr>
          <a:xfrm>
            <a:off x="1235247" y="4807079"/>
            <a:ext cx="1460310" cy="986972"/>
          </a:xfrm>
          <a:prstGeom prst="upArrowCallou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Protocol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22140-B174-319D-6D3C-D1365B43CDE6}"/>
              </a:ext>
            </a:extLst>
          </p:cNvPr>
          <p:cNvSpPr/>
          <p:nvPr/>
        </p:nvSpPr>
        <p:spPr>
          <a:xfrm>
            <a:off x="2910977" y="4117917"/>
            <a:ext cx="2081283" cy="62779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Callout: Up Arrow 10">
            <a:extLst>
              <a:ext uri="{FF2B5EF4-FFF2-40B4-BE49-F238E27FC236}">
                <a16:creationId xmlns:a16="http://schemas.microsoft.com/office/drawing/2014/main" id="{3C30F120-F128-D617-811E-6A999E957B5B}"/>
              </a:ext>
            </a:extLst>
          </p:cNvPr>
          <p:cNvSpPr/>
          <p:nvPr/>
        </p:nvSpPr>
        <p:spPr>
          <a:xfrm>
            <a:off x="3221463" y="4808396"/>
            <a:ext cx="1460310" cy="986972"/>
          </a:xfrm>
          <a:prstGeom prst="upArrowCallou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Domain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A254FE-2469-C528-6706-CE0E7B6B37F9}"/>
              </a:ext>
            </a:extLst>
          </p:cNvPr>
          <p:cNvSpPr/>
          <p:nvPr/>
        </p:nvSpPr>
        <p:spPr>
          <a:xfrm>
            <a:off x="5026255" y="4109565"/>
            <a:ext cx="1358077" cy="62779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Callout: Up Arrow 12">
            <a:extLst>
              <a:ext uri="{FF2B5EF4-FFF2-40B4-BE49-F238E27FC236}">
                <a16:creationId xmlns:a16="http://schemas.microsoft.com/office/drawing/2014/main" id="{C6BE9572-8687-05D7-E60B-21A9EC0F7752}"/>
              </a:ext>
            </a:extLst>
          </p:cNvPr>
          <p:cNvSpPr/>
          <p:nvPr/>
        </p:nvSpPr>
        <p:spPr>
          <a:xfrm>
            <a:off x="4992260" y="4808396"/>
            <a:ext cx="1460310" cy="986972"/>
          </a:xfrm>
          <a:prstGeom prst="upArrowCallou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Path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C7081E-9880-35F5-5FEB-4EC788639DDA}"/>
              </a:ext>
            </a:extLst>
          </p:cNvPr>
          <p:cNvSpPr/>
          <p:nvPr/>
        </p:nvSpPr>
        <p:spPr>
          <a:xfrm>
            <a:off x="6418599" y="4114019"/>
            <a:ext cx="1784581" cy="62779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Callout: Up Arrow 14">
            <a:extLst>
              <a:ext uri="{FF2B5EF4-FFF2-40B4-BE49-F238E27FC236}">
                <a16:creationId xmlns:a16="http://schemas.microsoft.com/office/drawing/2014/main" id="{CD39B032-E1B4-11E6-4946-AD885AD9BA5D}"/>
              </a:ext>
            </a:extLst>
          </p:cNvPr>
          <p:cNvSpPr/>
          <p:nvPr/>
        </p:nvSpPr>
        <p:spPr>
          <a:xfrm>
            <a:off x="6664259" y="4809078"/>
            <a:ext cx="1460310" cy="986972"/>
          </a:xfrm>
          <a:prstGeom prst="upArrowCallou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File 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E31E7F-4BC2-D6C4-CB60-C05417D8FE04}"/>
              </a:ext>
            </a:extLst>
          </p:cNvPr>
          <p:cNvSpPr/>
          <p:nvPr/>
        </p:nvSpPr>
        <p:spPr>
          <a:xfrm>
            <a:off x="8220233" y="4107673"/>
            <a:ext cx="536665" cy="627797"/>
          </a:xfrm>
          <a:prstGeom prst="rect">
            <a:avLst/>
          </a:prstGeom>
          <a:noFill/>
          <a:ln w="38100">
            <a:solidFill>
              <a:srgbClr val="929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Callout: Down Arrow 16">
            <a:extLst>
              <a:ext uri="{FF2B5EF4-FFF2-40B4-BE49-F238E27FC236}">
                <a16:creationId xmlns:a16="http://schemas.microsoft.com/office/drawing/2014/main" id="{86F81680-F963-9E92-69EE-82AB0A7B5D43}"/>
              </a:ext>
            </a:extLst>
          </p:cNvPr>
          <p:cNvSpPr/>
          <p:nvPr/>
        </p:nvSpPr>
        <p:spPr>
          <a:xfrm>
            <a:off x="7708165" y="3208489"/>
            <a:ext cx="1583140" cy="876471"/>
          </a:xfrm>
          <a:prstGeom prst="downArrowCallout">
            <a:avLst/>
          </a:prstGeom>
          <a:solidFill>
            <a:srgbClr val="929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Parameter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15B7AD-7CC6-5A15-DC72-3F99B9810414}"/>
              </a:ext>
            </a:extLst>
          </p:cNvPr>
          <p:cNvSpPr/>
          <p:nvPr/>
        </p:nvSpPr>
        <p:spPr>
          <a:xfrm>
            <a:off x="8809616" y="4108913"/>
            <a:ext cx="1394063" cy="627797"/>
          </a:xfrm>
          <a:prstGeom prst="rect">
            <a:avLst/>
          </a:prstGeom>
          <a:noFill/>
          <a:ln w="38100">
            <a:solidFill>
              <a:srgbClr val="FF2F9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Callout: Up Arrow 18">
            <a:extLst>
              <a:ext uri="{FF2B5EF4-FFF2-40B4-BE49-F238E27FC236}">
                <a16:creationId xmlns:a16="http://schemas.microsoft.com/office/drawing/2014/main" id="{447EFA0F-D62E-6CDC-068D-6BCF7C88566F}"/>
              </a:ext>
            </a:extLst>
          </p:cNvPr>
          <p:cNvSpPr/>
          <p:nvPr/>
        </p:nvSpPr>
        <p:spPr>
          <a:xfrm>
            <a:off x="8712321" y="4796829"/>
            <a:ext cx="1583140" cy="1007472"/>
          </a:xfrm>
          <a:prstGeom prst="upArrowCallout">
            <a:avLst/>
          </a:prstGeom>
          <a:solidFill>
            <a:srgbClr val="FF2F9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Parameter Value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8FCCEB7D-FA32-C5E8-9AFE-D32580B7D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1" y="6462751"/>
            <a:ext cx="33702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3277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 Request Methods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6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22B79B-5827-FC19-AC50-5728277EC0E4}"/>
              </a:ext>
            </a:extLst>
          </p:cNvPr>
          <p:cNvSpPr txBox="1">
            <a:spLocks/>
          </p:cNvSpPr>
          <p:nvPr/>
        </p:nvSpPr>
        <p:spPr bwMode="auto">
          <a:xfrm>
            <a:off x="918331" y="1414393"/>
            <a:ext cx="10024577" cy="4786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HTTP defines several request methods</a:t>
            </a:r>
          </a:p>
          <a:p>
            <a:pPr marL="457200" indent="-457200" algn="l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You might know about some of them if you have used rails or Django in previous projects </a:t>
            </a:r>
          </a:p>
          <a:p>
            <a:pPr marL="457200" indent="-457200" algn="l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The most common request is </a:t>
            </a:r>
            <a:r>
              <a:rPr lang="en-GB" dirty="0">
                <a:solidFill>
                  <a:srgbClr val="0432FF"/>
                </a:solidFill>
                <a:latin typeface="Montserrat" panose="00000500000000000000" pitchFamily="2" charset="0"/>
              </a:rPr>
              <a:t>GET</a:t>
            </a:r>
          </a:p>
          <a:p>
            <a:pPr marL="914400" lvl="1" indent="-457200" algn="l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Request a resource from a server</a:t>
            </a:r>
          </a:p>
          <a:p>
            <a:pPr marL="457200" indent="-457200" algn="l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432FF"/>
                </a:solidFill>
                <a:latin typeface="Montserrat" panose="00000500000000000000" pitchFamily="2" charset="0"/>
              </a:rPr>
              <a:t>POST</a:t>
            </a:r>
            <a:r>
              <a:rPr lang="en-GB" dirty="0">
                <a:latin typeface="Montserrat" panose="00000500000000000000" pitchFamily="2" charset="0"/>
              </a:rPr>
              <a:t> is used to submit data</a:t>
            </a:r>
          </a:p>
          <a:p>
            <a:pPr marL="914400" lvl="1" indent="-457200" algn="l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Usually used in web forms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DEE05695-F3B7-65B0-82CB-A6126458E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1" y="6462751"/>
            <a:ext cx="33702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872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 Request Methods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7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3C9543-4EFC-F4AD-E7EA-E674266F0B05}"/>
              </a:ext>
            </a:extLst>
          </p:cNvPr>
          <p:cNvSpPr txBox="1">
            <a:spLocks/>
          </p:cNvSpPr>
          <p:nvPr/>
        </p:nvSpPr>
        <p:spPr bwMode="auto">
          <a:xfrm>
            <a:off x="794027" y="1256055"/>
            <a:ext cx="10024577" cy="498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432FF"/>
                </a:solidFill>
                <a:latin typeface="Montserrat" panose="00000500000000000000" pitchFamily="2" charset="0"/>
              </a:rPr>
              <a:t>HEAD </a:t>
            </a:r>
          </a:p>
          <a:p>
            <a:pPr marL="914400" lvl="1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Asks for a response identical to a </a:t>
            </a: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GET</a:t>
            </a:r>
            <a:r>
              <a:rPr lang="en-GB" sz="2400" dirty="0">
                <a:latin typeface="Montserrat" panose="00000500000000000000" pitchFamily="2" charset="0"/>
              </a:rPr>
              <a:t> request, but without the response body</a:t>
            </a:r>
          </a:p>
          <a:p>
            <a:pPr marL="914400" lvl="1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e.g., checking the size of a file to be downloaded beforehand </a:t>
            </a:r>
          </a:p>
          <a:p>
            <a:pPr marL="457200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432FF"/>
                </a:solidFill>
                <a:latin typeface="Montserrat" panose="00000500000000000000" pitchFamily="2" charset="0"/>
              </a:rPr>
              <a:t>PUT</a:t>
            </a:r>
          </a:p>
          <a:p>
            <a:pPr marL="914400" lvl="1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Updates a resource with a new version</a:t>
            </a:r>
          </a:p>
          <a:p>
            <a:pPr marL="457200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432FF"/>
                </a:solidFill>
                <a:latin typeface="Montserrat" panose="00000500000000000000" pitchFamily="2" charset="0"/>
              </a:rPr>
              <a:t>PATCH</a:t>
            </a:r>
          </a:p>
          <a:p>
            <a:pPr marL="914400" lvl="1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Specifies how a resource should be updated</a:t>
            </a:r>
          </a:p>
          <a:p>
            <a:pPr marL="457200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432FF"/>
                </a:solidFill>
                <a:latin typeface="Montserrat" panose="00000500000000000000" pitchFamily="2" charset="0"/>
              </a:rPr>
              <a:t>DELETE </a:t>
            </a:r>
          </a:p>
          <a:p>
            <a:pPr marL="914400" lvl="1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Removes a resource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ED2AB8A-C2A4-2A24-9D6B-C79A957D0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1" y="6462751"/>
            <a:ext cx="33702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5045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 Response Codes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8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03AAD4-F39D-6200-19C3-9F1059E3F0C1}"/>
              </a:ext>
            </a:extLst>
          </p:cNvPr>
          <p:cNvSpPr txBox="1">
            <a:spLocks/>
          </p:cNvSpPr>
          <p:nvPr/>
        </p:nvSpPr>
        <p:spPr bwMode="auto">
          <a:xfrm>
            <a:off x="934044" y="1392236"/>
            <a:ext cx="9748800" cy="407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When an HTTP request is made, it returns a response code</a:t>
            </a:r>
          </a:p>
          <a:p>
            <a:pPr marL="457200" indent="-457200" algn="l">
              <a:spcBef>
                <a:spcPts val="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The first digit specifies the class of the response </a:t>
            </a:r>
          </a:p>
          <a:p>
            <a:pPr marL="914400" lvl="1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1xx</a:t>
            </a:r>
            <a:r>
              <a:rPr lang="en-GB" sz="2400" dirty="0">
                <a:latin typeface="Montserrat" panose="00000500000000000000" pitchFamily="2" charset="0"/>
              </a:rPr>
              <a:t> – Information</a:t>
            </a:r>
          </a:p>
          <a:p>
            <a:pPr marL="914400" lvl="1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2xx</a:t>
            </a:r>
            <a:r>
              <a:rPr lang="en-GB" sz="2400" dirty="0">
                <a:latin typeface="Montserrat" panose="00000500000000000000" pitchFamily="2" charset="0"/>
              </a:rPr>
              <a:t> – Success</a:t>
            </a:r>
          </a:p>
          <a:p>
            <a:pPr marL="914400" lvl="1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3xx</a:t>
            </a:r>
            <a:r>
              <a:rPr lang="en-GB" sz="2400" dirty="0">
                <a:latin typeface="Montserrat" panose="00000500000000000000" pitchFamily="2" charset="0"/>
              </a:rPr>
              <a:t> – Redirection</a:t>
            </a:r>
          </a:p>
          <a:p>
            <a:pPr marL="914400" lvl="1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4xx</a:t>
            </a:r>
            <a:r>
              <a:rPr lang="en-GB" sz="2400" dirty="0">
                <a:latin typeface="Montserrat" panose="00000500000000000000" pitchFamily="2" charset="0"/>
              </a:rPr>
              <a:t> – Client error</a:t>
            </a:r>
          </a:p>
          <a:p>
            <a:pPr marL="914400" lvl="1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5xx</a:t>
            </a:r>
            <a:r>
              <a:rPr lang="en-GB" sz="2400" dirty="0">
                <a:latin typeface="Montserrat" panose="00000500000000000000" pitchFamily="2" charset="0"/>
              </a:rPr>
              <a:t> – Server error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27678FF8-473B-859D-5AD2-D67858010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128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 Response Codes – 2xx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9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F4039F-1E54-A91E-3468-C32B126F4CE0}"/>
              </a:ext>
            </a:extLst>
          </p:cNvPr>
          <p:cNvSpPr txBox="1">
            <a:spLocks/>
          </p:cNvSpPr>
          <p:nvPr/>
        </p:nvSpPr>
        <p:spPr bwMode="auto">
          <a:xfrm>
            <a:off x="810063" y="1377559"/>
            <a:ext cx="10879245" cy="504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This is generally the one you want to see</a:t>
            </a:r>
          </a:p>
          <a:p>
            <a:pPr marL="457200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As a website owner, you need to make sure that all pages and resources return 2xx status codes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200 – OK</a:t>
            </a:r>
            <a:r>
              <a:rPr lang="en-GB" sz="2400" dirty="0">
                <a:latin typeface="Montserrat" panose="00000500000000000000" pitchFamily="2" charset="0"/>
              </a:rPr>
              <a:t>: </a:t>
            </a:r>
            <a:r>
              <a:rPr lang="en-GB" sz="2400" dirty="0">
                <a:latin typeface="Montserrat" panose="00000500000000000000" pitchFamily="2" charset="0"/>
                <a:sym typeface="Wingdings" panose="05000000000000000000" pitchFamily="2" charset="2"/>
              </a:rPr>
              <a:t>request succeeded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202 – Accepted</a:t>
            </a:r>
            <a:r>
              <a:rPr lang="en-GB" sz="2400" dirty="0">
                <a:latin typeface="Montserrat" panose="00000500000000000000" pitchFamily="2" charset="0"/>
                <a:sym typeface="Wingdings" panose="05000000000000000000" pitchFamily="2" charset="2"/>
              </a:rPr>
              <a:t>: </a:t>
            </a:r>
            <a:r>
              <a:rPr lang="en-GB" sz="2400" dirty="0">
                <a:latin typeface="Montserrat" panose="00000500000000000000" pitchFamily="2" charset="0"/>
              </a:rPr>
              <a:t>request has been accepted for processing, but the processing has not been finished yet</a:t>
            </a:r>
            <a:endParaRPr lang="en-GB" sz="2400" dirty="0">
              <a:latin typeface="Montserrat" panose="00000500000000000000" pitchFamily="2" charset="0"/>
              <a:sym typeface="Wingdings" panose="05000000000000000000" pitchFamily="2" charset="2"/>
            </a:endParaRP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204 – No Content</a:t>
            </a:r>
            <a:r>
              <a:rPr lang="en-GB" sz="2400" dirty="0">
                <a:latin typeface="Montserrat" panose="00000500000000000000" pitchFamily="2" charset="0"/>
                <a:sym typeface="Wingdings" panose="05000000000000000000" pitchFamily="2" charset="2"/>
              </a:rPr>
              <a:t>: there is no content to send for this request</a:t>
            </a:r>
          </a:p>
          <a:p>
            <a:pPr marL="457200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  <a:sym typeface="Wingdings" panose="05000000000000000000" pitchFamily="2" charset="2"/>
              </a:rPr>
              <a:t>If the response code != 200  something is wrong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</a:pPr>
            <a:r>
              <a:rPr lang="en-GB" dirty="0">
                <a:latin typeface="Montserrat" panose="00000500000000000000" pitchFamily="2" charset="0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</a:pPr>
            <a:endParaRPr lang="en-GB" dirty="0">
              <a:latin typeface="Montserrat" panose="00000500000000000000" pitchFamily="2" charset="0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99A2537-86F5-8D74-7D18-057B0C741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131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 Response Codes – 3xx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10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06292E-83DF-F0DE-703C-E671450D7493}"/>
              </a:ext>
            </a:extLst>
          </p:cNvPr>
          <p:cNvSpPr txBox="1">
            <a:spLocks/>
          </p:cNvSpPr>
          <p:nvPr/>
        </p:nvSpPr>
        <p:spPr bwMode="auto">
          <a:xfrm>
            <a:off x="934044" y="1631305"/>
            <a:ext cx="10611324" cy="407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It indicates that the request was successfully received, but the resource was found elsewhere</a:t>
            </a:r>
          </a:p>
          <a:p>
            <a:pPr marL="914400" lvl="1" indent="-457200" algn="l"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301 –</a:t>
            </a:r>
            <a:r>
              <a:rPr lang="en-GB" sz="2400" b="1" dirty="0">
                <a:solidFill>
                  <a:srgbClr val="0432FF"/>
                </a:solidFill>
                <a:latin typeface="Montserrat" panose="00000500000000000000" pitchFamily="2" charset="0"/>
              </a:rPr>
              <a:t> </a:t>
            </a: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Moved permanently</a:t>
            </a:r>
            <a:r>
              <a:rPr lang="en-GB" sz="2400" dirty="0">
                <a:latin typeface="Montserrat" panose="00000500000000000000" pitchFamily="2" charset="0"/>
              </a:rPr>
              <a:t>:</a:t>
            </a:r>
            <a:r>
              <a:rPr lang="en-GB" sz="2400" b="1" dirty="0">
                <a:latin typeface="Montserrat" panose="00000500000000000000" pitchFamily="2" charset="0"/>
              </a:rPr>
              <a:t>  </a:t>
            </a:r>
            <a:r>
              <a:rPr lang="en-GB" sz="2400" dirty="0">
                <a:latin typeface="Montserrat" panose="00000500000000000000" pitchFamily="2" charset="0"/>
              </a:rPr>
              <a:t>the URL of the requested resource has changed, and the new URL is given in the response</a:t>
            </a:r>
          </a:p>
          <a:p>
            <a:pPr marL="914400" lvl="1" indent="-457200" algn="l"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304 – Not modified</a:t>
            </a:r>
            <a:r>
              <a:rPr lang="en-GB" sz="2400" dirty="0">
                <a:latin typeface="Montserrat" panose="00000500000000000000" pitchFamily="2" charset="0"/>
              </a:rPr>
              <a:t>: informs the client that the response has not been modified</a:t>
            </a:r>
            <a:r>
              <a:rPr lang="en-GB" sz="2400" dirty="0">
                <a:solidFill>
                  <a:srgbClr val="162335"/>
                </a:solidFill>
                <a:latin typeface="Montserrat" panose="00000500000000000000" pitchFamily="2" charset="0"/>
              </a:rPr>
              <a:t> </a:t>
            </a:r>
            <a:r>
              <a:rPr lang="en-GB" sz="2400" dirty="0">
                <a:solidFill>
                  <a:srgbClr val="162335"/>
                </a:solidFill>
                <a:latin typeface="Montserrat" panose="00000500000000000000" pitchFamily="2" charset="0"/>
                <a:sym typeface="Wingdings" pitchFamily="2" charset="2"/>
              </a:rPr>
              <a:t> </a:t>
            </a:r>
            <a:r>
              <a:rPr lang="en-GB" sz="2400" dirty="0">
                <a:latin typeface="Montserrat" panose="00000500000000000000" pitchFamily="2" charset="0"/>
              </a:rPr>
              <a:t>used for caching purposes</a:t>
            </a:r>
          </a:p>
          <a:p>
            <a:pPr marL="914400" lvl="1" indent="-457200" algn="l"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305 – Use proxy</a:t>
            </a:r>
            <a:r>
              <a:rPr lang="en-GB" sz="2400" dirty="0">
                <a:latin typeface="Montserrat" panose="00000500000000000000" pitchFamily="2" charset="0"/>
              </a:rPr>
              <a:t>: instructs a client that it should connect to a proxy and then repeat the same request for </a:t>
            </a:r>
            <a:r>
              <a:rPr lang="en-GB" sz="2400" dirty="0">
                <a:latin typeface="Montserrat" panose="00000500000000000000" pitchFamily="2" charset="0"/>
                <a:sym typeface="Wingdings" pitchFamily="2" charset="2"/>
              </a:rPr>
              <a:t>security reasons</a:t>
            </a:r>
            <a:endParaRPr lang="en-GB" sz="2400" dirty="0">
              <a:latin typeface="Montserrat" panose="00000500000000000000" pitchFamily="2" charset="0"/>
            </a:endParaRPr>
          </a:p>
          <a:p>
            <a:pPr marL="457200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800" dirty="0">
              <a:sym typeface="Wingdings" panose="05000000000000000000" pitchFamily="2" charset="2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BB65FF8-2D9E-B36E-4DD9-22097AA9C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6885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 Response Codes – 4xx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11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E355D3-7ACB-DC09-E535-DB36024D05AF}"/>
              </a:ext>
            </a:extLst>
          </p:cNvPr>
          <p:cNvSpPr txBox="1">
            <a:spLocks/>
          </p:cNvSpPr>
          <p:nvPr/>
        </p:nvSpPr>
        <p:spPr bwMode="auto">
          <a:xfrm>
            <a:off x="1221600" y="1559530"/>
            <a:ext cx="10024577" cy="4641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It means that the request contains bad syntax, or that resources cannot be reached for some reason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401 – Unauthorised: </a:t>
            </a:r>
            <a:r>
              <a:rPr lang="en-GB" sz="2400" dirty="0">
                <a:latin typeface="Montserrat" panose="00000500000000000000" pitchFamily="2" charset="0"/>
                <a:sym typeface="Wingdings" panose="05000000000000000000" pitchFamily="2" charset="2"/>
              </a:rPr>
              <a:t>only authenticated clients can get the requested resource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403 – Forbidden: </a:t>
            </a:r>
            <a:r>
              <a:rPr lang="en-GB" sz="2400" dirty="0">
                <a:latin typeface="Montserrat" panose="00000500000000000000" pitchFamily="2" charset="0"/>
                <a:sym typeface="Wingdings" panose="05000000000000000000" pitchFamily="2" charset="2"/>
              </a:rPr>
              <a:t>client has no right to access the resource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404 – Not found: </a:t>
            </a:r>
            <a:r>
              <a:rPr lang="en-GB" sz="2400" dirty="0">
                <a:latin typeface="Montserrat" panose="00000500000000000000" pitchFamily="2" charset="0"/>
                <a:sym typeface="Wingdings" panose="05000000000000000000" pitchFamily="2" charset="2"/>
              </a:rPr>
              <a:t>the server can’t find the requested resource</a:t>
            </a:r>
          </a:p>
          <a:p>
            <a:pPr lvl="2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000" dirty="0">
              <a:latin typeface="Montserrat" panose="00000500000000000000" pitchFamily="2" charset="0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6CF1B77-CC8C-2007-DF58-5A4FC755F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8157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 Response Codes – 5xx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12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E9C3BE-27F4-CF52-BED5-B41F09947EBF}"/>
              </a:ext>
            </a:extLst>
          </p:cNvPr>
          <p:cNvSpPr txBox="1">
            <a:spLocks/>
          </p:cNvSpPr>
          <p:nvPr/>
        </p:nvSpPr>
        <p:spPr bwMode="auto">
          <a:xfrm>
            <a:off x="918331" y="1286463"/>
            <a:ext cx="10024577" cy="477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2800" dirty="0">
                <a:latin typeface="Montserrat" panose="00000500000000000000" pitchFamily="2" charset="0"/>
              </a:rPr>
              <a:t>While the request appears to be valid, the server could not complete the request due to some issues</a:t>
            </a:r>
            <a:endParaRPr lang="en-GB" sz="2800" dirty="0">
              <a:latin typeface="Montserrat" panose="00000500000000000000" pitchFamily="2" charset="0"/>
            </a:endParaRP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0432FF"/>
                </a:solidFill>
                <a:latin typeface="Montserrat" panose="00000500000000000000" pitchFamily="2" charset="0"/>
              </a:rPr>
              <a:t>500 – Internal server error</a:t>
            </a:r>
            <a:r>
              <a:rPr lang="en-GB" sz="2600" b="1" dirty="0">
                <a:latin typeface="Montserrat" panose="00000500000000000000" pitchFamily="2" charset="0"/>
              </a:rPr>
              <a:t>:  </a:t>
            </a:r>
            <a:r>
              <a:rPr lang="en-GB" sz="2600" dirty="0">
                <a:latin typeface="Montserrat" panose="00000500000000000000" pitchFamily="2" charset="0"/>
              </a:rPr>
              <a:t>generic error </a:t>
            </a:r>
            <a:r>
              <a:rPr lang="en-GB" sz="2600" dirty="0">
                <a:latin typeface="Montserrat" panose="00000500000000000000" pitchFamily="2" charset="0"/>
                <a:sym typeface="Wingdings" panose="05000000000000000000" pitchFamily="2" charset="2"/>
              </a:rPr>
              <a:t> something wrong on the server</a:t>
            </a:r>
            <a:endParaRPr lang="en-GB" sz="2600" dirty="0">
              <a:latin typeface="Montserrat" panose="00000500000000000000" pitchFamily="2" charset="0"/>
            </a:endParaRP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0432FF"/>
                </a:solidFill>
                <a:latin typeface="Montserrat" panose="00000500000000000000" pitchFamily="2" charset="0"/>
              </a:rPr>
              <a:t>501 – Not implemented</a:t>
            </a:r>
            <a:r>
              <a:rPr lang="en-GB" sz="2600" dirty="0">
                <a:latin typeface="Montserrat" panose="00000500000000000000" pitchFamily="2" charset="0"/>
              </a:rPr>
              <a:t>: the request method is not supported by the server and cannot be handled 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0432FF"/>
                </a:solidFill>
                <a:latin typeface="Montserrat" panose="00000500000000000000" pitchFamily="2" charset="0"/>
              </a:rPr>
              <a:t>503 – Service unavailable</a:t>
            </a:r>
            <a:r>
              <a:rPr lang="en-GB" sz="2600" dirty="0">
                <a:latin typeface="Montserrat" panose="00000500000000000000" pitchFamily="2" charset="0"/>
              </a:rPr>
              <a:t>: server is overloaded or down for maintenance</a:t>
            </a:r>
          </a:p>
          <a:p>
            <a:pPr lvl="2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400" dirty="0">
              <a:latin typeface="Montserrat" panose="00000500000000000000" pitchFamily="2" charset="0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60EC52DA-270E-BDA0-A3B0-A3DFB9A74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5749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 Request / Response Structure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13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A97DAB-98CB-1466-D9AA-8BA219E1C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26" y="2058263"/>
            <a:ext cx="11467621" cy="3558917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D5FC9D74-E078-8678-E1AD-D51A30E38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4418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 Request / Response Structure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14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611ECE-20DA-5F81-BBA8-DA3A84DF2E5A}"/>
              </a:ext>
            </a:extLst>
          </p:cNvPr>
          <p:cNvSpPr txBox="1">
            <a:spLocks/>
          </p:cNvSpPr>
          <p:nvPr/>
        </p:nvSpPr>
        <p:spPr bwMode="auto">
          <a:xfrm>
            <a:off x="732539" y="1391535"/>
            <a:ext cx="11154698" cy="488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HTTP requests/responses share similar structure: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A </a:t>
            </a:r>
            <a:r>
              <a:rPr lang="en-GB" sz="2400" i="1" dirty="0">
                <a:solidFill>
                  <a:srgbClr val="0432FF"/>
                </a:solidFill>
                <a:latin typeface="Montserrat" panose="00000500000000000000" pitchFamily="2" charset="0"/>
              </a:rPr>
              <a:t>start-line</a:t>
            </a:r>
            <a:r>
              <a:rPr lang="en-GB" sz="2400" dirty="0">
                <a:latin typeface="Montserrat" panose="00000500000000000000" pitchFamily="2" charset="0"/>
              </a:rPr>
              <a:t> (single line) describing the requests to be implemented and its status (successful/failure)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i="1" dirty="0">
                <a:solidFill>
                  <a:srgbClr val="0432FF"/>
                </a:solidFill>
                <a:latin typeface="Montserrat" panose="00000500000000000000" pitchFamily="2" charset="0"/>
              </a:rPr>
              <a:t>HTTP headers</a:t>
            </a:r>
            <a:r>
              <a:rPr lang="en-GB" sz="2400" dirty="0">
                <a:latin typeface="Montserrat" panose="00000500000000000000" pitchFamily="2" charset="0"/>
              </a:rPr>
              <a:t> specifying the request or describing the body included in the message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A </a:t>
            </a:r>
            <a:r>
              <a:rPr lang="en-GB" sz="2400" dirty="0">
                <a:solidFill>
                  <a:srgbClr val="0432FF"/>
                </a:solidFill>
                <a:latin typeface="Montserrat" panose="00000500000000000000" pitchFamily="2" charset="0"/>
              </a:rPr>
              <a:t>blank line </a:t>
            </a:r>
            <a:r>
              <a:rPr lang="en-GB" sz="2400" dirty="0">
                <a:latin typeface="Montserrat" panose="00000500000000000000" pitchFamily="2" charset="0"/>
              </a:rPr>
              <a:t>indicating all meta-information for the request has been sent</a:t>
            </a:r>
          </a:p>
          <a:p>
            <a:pPr marL="914400" lvl="1" indent="-457200" algn="l">
              <a:spcBef>
                <a:spcPts val="6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An optional </a:t>
            </a:r>
            <a:r>
              <a:rPr lang="en-GB" sz="2400" i="1" dirty="0">
                <a:solidFill>
                  <a:srgbClr val="0432FF"/>
                </a:solidFill>
                <a:latin typeface="Montserrat" panose="00000500000000000000" pitchFamily="2" charset="0"/>
              </a:rPr>
              <a:t>body</a:t>
            </a:r>
            <a:r>
              <a:rPr lang="en-GB" sz="2400" dirty="0">
                <a:latin typeface="Montserrat" panose="00000500000000000000" pitchFamily="2" charset="0"/>
              </a:rPr>
              <a:t> containing data associated with the request (like content of an HTML form)</a:t>
            </a:r>
          </a:p>
          <a:p>
            <a:pPr lvl="2" algn="l">
              <a:spcAft>
                <a:spcPts val="1800"/>
              </a:spcAft>
              <a:buClr>
                <a:schemeClr val="tx1"/>
              </a:buClr>
            </a:pPr>
            <a:endParaRPr lang="en-GB" sz="2200" dirty="0">
              <a:latin typeface="Montserrat" panose="00000500000000000000" pitchFamily="2" charset="0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E8E5D567-E99D-CBD0-E368-CB599724C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7287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2F9C-33F0-6069-E4CC-61FFCEB5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69" y="298362"/>
            <a:ext cx="6896878" cy="687641"/>
          </a:xfrm>
        </p:spPr>
        <p:txBody>
          <a:bodyPr>
            <a:normAutofit/>
          </a:bodyPr>
          <a:lstStyle/>
          <a:p>
            <a:pPr algn="l">
              <a:lnSpc>
                <a:spcPct val="60000"/>
              </a:lnSpc>
            </a:pPr>
            <a:r>
              <a:rPr lang="en-US" sz="2400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HTTPS</a:t>
            </a:r>
            <a:endParaRPr lang="fr-FR" sz="2400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AFD5A-AD6C-CB92-E4F6-2BBB6E20EF4C}"/>
              </a:ext>
            </a:extLst>
          </p:cNvPr>
          <p:cNvSpPr txBox="1"/>
          <p:nvPr/>
        </p:nvSpPr>
        <p:spPr>
          <a:xfrm>
            <a:off x="304763" y="6201141"/>
            <a:ext cx="629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294BF9"/>
                </a:solidFill>
                <a:latin typeface="Montserrat" panose="00000500000000000000" pitchFamily="50" charset="0"/>
              </a:rPr>
              <a:t>15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5CE64CE-09FD-A9FE-B6FE-80655277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228A3FD-7C06-5AE8-CA94-B3277F5FC19A}"/>
              </a:ext>
            </a:extLst>
          </p:cNvPr>
          <p:cNvSpPr txBox="1">
            <a:spLocks/>
          </p:cNvSpPr>
          <p:nvPr/>
        </p:nvSpPr>
        <p:spPr bwMode="auto">
          <a:xfrm>
            <a:off x="1053986" y="1122439"/>
            <a:ext cx="10084028" cy="2551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HTTP with encryption and verification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latin typeface="Montserrat" panose="00000500000000000000" pitchFamily="2" charset="0"/>
              </a:rPr>
              <a:t>Uses Transport Layer Security (TLS)/Secure Socket Layer (SSL) </a:t>
            </a:r>
          </a:p>
          <a:p>
            <a:pPr marL="914400" lvl="1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encrypt normal HTTP requests and responses</a:t>
            </a:r>
          </a:p>
          <a:p>
            <a:pPr marL="914400" lvl="1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0000500000000000000" pitchFamily="2" charset="0"/>
              </a:rPr>
              <a:t>digitally sign those requests and responses  </a:t>
            </a:r>
          </a:p>
          <a:p>
            <a:pPr lvl="2" indent="-457200" algn="l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400" dirty="0"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283387-2EF3-CD34-421F-C68166245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455" y="3429000"/>
            <a:ext cx="7316708" cy="2929447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4C02B279-3923-1A26-C072-765AA2438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0480" y="6462751"/>
            <a:ext cx="37772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and Internet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929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8CFB50-AC9C-963A-89A8-4739968EBF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0" name="Picture 9" descr="A black circle with white lines&#10;&#10;Description automatically generated">
            <a:extLst>
              <a:ext uri="{FF2B5EF4-FFF2-40B4-BE49-F238E27FC236}">
                <a16:creationId xmlns:a16="http://schemas.microsoft.com/office/drawing/2014/main" id="{ABD5258B-4675-1277-DF14-828E1F59B0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57" y="-1866243"/>
            <a:ext cx="10590486" cy="105904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3B1AD2-39F6-1570-C5BB-01B5C66C95E2}"/>
              </a:ext>
            </a:extLst>
          </p:cNvPr>
          <p:cNvSpPr txBox="1"/>
          <p:nvPr/>
        </p:nvSpPr>
        <p:spPr>
          <a:xfrm>
            <a:off x="3048000" y="292116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  <a:latin typeface="Montserrat Black" panose="00000A00000000000000" pitchFamily="50" charset="0"/>
              </a:rPr>
              <a:t>THANK YOU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2EBC0FC-920A-7A09-7C8A-C410962B4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sp>
        <p:nvSpPr>
          <p:cNvPr id="4" name="TextBox 16">
            <a:extLst>
              <a:ext uri="{FF2B5EF4-FFF2-40B4-BE49-F238E27FC236}">
                <a16:creationId xmlns:a16="http://schemas.microsoft.com/office/drawing/2014/main" id="{8970B5C8-4280-E699-82E7-BA3E0F011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2528" y="6323826"/>
            <a:ext cx="34012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CSC 1010: Networks and Internet  |  </a:t>
            </a:r>
            <a:r>
              <a:rPr lang="en-GB" altLang="en-IE" sz="1200" dirty="0">
                <a:solidFill>
                  <a:schemeClr val="bg1"/>
                </a:solidFill>
                <a:latin typeface="Montserrat" pitchFamily="2" charset="77"/>
              </a:rPr>
              <a:t>HTTP</a:t>
            </a:r>
            <a:endParaRPr lang="fr-FR" altLang="en-IE" sz="12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9983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 04.potm" id="{08C18694-8C13-4171-8942-D7EB2D7CD1DD}" vid="{EBB5CD0B-7472-4764-B38A-8AED69D4C7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5436</TotalTime>
  <Words>831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Montserrat</vt:lpstr>
      <vt:lpstr>Montserrat Black</vt:lpstr>
      <vt:lpstr>Montserrat Medium</vt:lpstr>
      <vt:lpstr>Wingdings</vt:lpstr>
      <vt:lpstr>Office Theme</vt:lpstr>
      <vt:lpstr>CSC 1010 Networks &amp; Internet</vt:lpstr>
      <vt:lpstr>Learning outcomes</vt:lpstr>
      <vt:lpstr>Web browsing – data encapsulation</vt:lpstr>
      <vt:lpstr>Hypertext Transfer Protocol (HTTP)</vt:lpstr>
      <vt:lpstr>Uniform Resource Locator (URL)</vt:lpstr>
      <vt:lpstr>HTTP Request Methods</vt:lpstr>
      <vt:lpstr>HTTP Request Methods</vt:lpstr>
      <vt:lpstr>HTTP Response Codes</vt:lpstr>
      <vt:lpstr>HTTP Response Codes – 2xx</vt:lpstr>
      <vt:lpstr>HTTP Response Codes – 3xx</vt:lpstr>
      <vt:lpstr>HTTP Response Codes – 4xx</vt:lpstr>
      <vt:lpstr>HTTP Response Codes – 5xx</vt:lpstr>
      <vt:lpstr>HTTP Request / Response Structure</vt:lpstr>
      <vt:lpstr>HTTP Request / Response Structure</vt:lpstr>
      <vt:lpstr>HTTPS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04: Databases</dc:title>
  <dc:creator>Omar MAKIL</dc:creator>
  <cp:lastModifiedBy>Mohammed Amine Togou</cp:lastModifiedBy>
  <cp:revision>144</cp:revision>
  <dcterms:created xsi:type="dcterms:W3CDTF">2023-07-12T08:21:59Z</dcterms:created>
  <dcterms:modified xsi:type="dcterms:W3CDTF">2026-01-26T11:48:07Z</dcterms:modified>
</cp:coreProperties>
</file>