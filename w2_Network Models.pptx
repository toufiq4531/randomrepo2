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6" r:id="rId18"/>
    <p:sldId id="277" r:id="rId19"/>
    <p:sldId id="275" r:id="rId20"/>
    <p:sldId id="278" r:id="rId21"/>
    <p:sldId id="279" r:id="rId22"/>
    <p:sldId id="280" r:id="rId23"/>
    <p:sldId id="281" r:id="rId24"/>
    <p:sldId id="261" r:id="rId25"/>
  </p:sldIdLst>
  <p:sldSz cx="12192000" cy="6858000"/>
  <p:notesSz cx="6858000" cy="9144000"/>
  <p:defaultTextStyle>
    <a:defPPr>
      <a:defRPr lang="fr-F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  <a:srgbClr val="60A5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200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3EA9-0D11-4A9F-5F19-F914CC9F9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F96FF7-2149-FA43-8D9F-0C8AF9AA8384}" type="datetimeFigureOut">
              <a:rPr lang="fr-FR"/>
              <a:pPr>
                <a:defRPr/>
              </a:pPr>
              <a:t>14/01/2026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8215F6-917C-EF67-E034-FF1D565EE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4A0C1-FBB3-4F38-519A-33D394157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94F142-9742-334F-8D18-5F26B9CFFC85}" type="slidenum">
              <a:rPr lang="fr-FR" altLang="en-MA"/>
              <a:pPr>
                <a:defRPr/>
              </a:pPr>
              <a:t>‹#›</a:t>
            </a:fld>
            <a:endParaRPr lang="fr-FR" altLang="en-MA"/>
          </a:p>
        </p:txBody>
      </p:sp>
    </p:spTree>
    <p:extLst>
      <p:ext uri="{BB962C8B-B14F-4D97-AF65-F5344CB8AC3E}">
        <p14:creationId xmlns:p14="http://schemas.microsoft.com/office/powerpoint/2010/main" val="1395044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99AC5A-EE92-A27F-4C7F-112362B5F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04A2D6-BBF3-A64C-A879-70BCA23FDEE3}" type="datetimeFigureOut">
              <a:rPr lang="fr-FR"/>
              <a:pPr>
                <a:defRPr/>
              </a:pPr>
              <a:t>14/01/2026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4AEE8-F43F-08A1-1FF0-04A92A582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7914AC-2F1B-DE91-42C2-D5FAFDE4D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7FD080-26C3-0840-92FE-852702D891ED}" type="slidenum">
              <a:rPr lang="fr-FR" altLang="en-MA"/>
              <a:pPr>
                <a:defRPr/>
              </a:pPr>
              <a:t>‹#›</a:t>
            </a:fld>
            <a:endParaRPr lang="fr-FR" altLang="en-MA"/>
          </a:p>
        </p:txBody>
      </p:sp>
    </p:spTree>
    <p:extLst>
      <p:ext uri="{BB962C8B-B14F-4D97-AF65-F5344CB8AC3E}">
        <p14:creationId xmlns:p14="http://schemas.microsoft.com/office/powerpoint/2010/main" val="3124588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011B8F-BB05-A96D-B4E2-27CC925DA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3520D8-1DED-9345-8673-1796B2F0A621}" type="datetimeFigureOut">
              <a:rPr lang="fr-FR"/>
              <a:pPr>
                <a:defRPr/>
              </a:pPr>
              <a:t>14/01/2026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B0A118-675D-4A94-5F00-A055E124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C4A4E4-AA43-EDE6-5D1D-EC44C00BE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0B1245-2E34-9440-A70A-9EE4106C0E61}" type="slidenum">
              <a:rPr lang="fr-FR" altLang="en-MA"/>
              <a:pPr>
                <a:defRPr/>
              </a:pPr>
              <a:t>‹#›</a:t>
            </a:fld>
            <a:endParaRPr lang="fr-FR" altLang="en-MA"/>
          </a:p>
        </p:txBody>
      </p:sp>
    </p:spTree>
    <p:extLst>
      <p:ext uri="{BB962C8B-B14F-4D97-AF65-F5344CB8AC3E}">
        <p14:creationId xmlns:p14="http://schemas.microsoft.com/office/powerpoint/2010/main" val="2156020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4188709-5784-8331-D3C7-BA5CC4C1E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7BD962-28DA-A34B-9F68-5E75A0D13192}" type="datetimeFigureOut">
              <a:rPr lang="fr-FR"/>
              <a:pPr>
                <a:defRPr/>
              </a:pPr>
              <a:t>14/01/2026</a:t>
            </a:fld>
            <a:endParaRPr lang="fr-FR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5330710-3224-4918-949C-E4F657C39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7DCD74B-F615-1A05-FC13-041E2DFB3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A89D02-0E26-4C48-8922-EEFEF28F99B4}" type="slidenum">
              <a:rPr lang="fr-FR" altLang="en-MA"/>
              <a:pPr>
                <a:defRPr/>
              </a:pPr>
              <a:t>‹#›</a:t>
            </a:fld>
            <a:endParaRPr lang="fr-FR" altLang="en-MA"/>
          </a:p>
        </p:txBody>
      </p:sp>
    </p:spTree>
    <p:extLst>
      <p:ext uri="{BB962C8B-B14F-4D97-AF65-F5344CB8AC3E}">
        <p14:creationId xmlns:p14="http://schemas.microsoft.com/office/powerpoint/2010/main" val="715946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4084CE4-3D97-3492-E79D-0BCA57F7C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F49284-EC1D-9947-9DF7-ADCB7A866B4B}" type="datetimeFigureOut">
              <a:rPr lang="fr-FR"/>
              <a:pPr>
                <a:defRPr/>
              </a:pPr>
              <a:t>14/01/2026</a:t>
            </a:fld>
            <a:endParaRPr lang="fr-FR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66E978A-373F-C864-CF9E-84A07CD46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1CD06D8-CE77-E111-A3A7-F70C9DE17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1BF4C6-6436-944E-A780-1410E82073AB}" type="slidenum">
              <a:rPr lang="fr-FR" altLang="en-MA"/>
              <a:pPr>
                <a:defRPr/>
              </a:pPr>
              <a:t>‹#›</a:t>
            </a:fld>
            <a:endParaRPr lang="fr-FR" altLang="en-MA"/>
          </a:p>
        </p:txBody>
      </p:sp>
    </p:spTree>
    <p:extLst>
      <p:ext uri="{BB962C8B-B14F-4D97-AF65-F5344CB8AC3E}">
        <p14:creationId xmlns:p14="http://schemas.microsoft.com/office/powerpoint/2010/main" val="3719998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7DA813D-07A9-D670-D424-92C2541CD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4F59AE-E4C6-6044-911A-1641711F56B5}" type="datetimeFigureOut">
              <a:rPr lang="fr-FR"/>
              <a:pPr>
                <a:defRPr/>
              </a:pPr>
              <a:t>14/01/2026</a:t>
            </a:fld>
            <a:endParaRPr lang="fr-FR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8DFCF42-F4AD-B993-C657-62D4E410A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865A000-864E-E028-C2F7-7F0ABFC58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68BD9E-45A9-A24F-8086-DB5CC3999D30}" type="slidenum">
              <a:rPr lang="fr-FR" altLang="en-MA"/>
              <a:pPr>
                <a:defRPr/>
              </a:pPr>
              <a:t>‹#›</a:t>
            </a:fld>
            <a:endParaRPr lang="fr-FR" altLang="en-MA"/>
          </a:p>
        </p:txBody>
      </p:sp>
    </p:spTree>
    <p:extLst>
      <p:ext uri="{BB962C8B-B14F-4D97-AF65-F5344CB8AC3E}">
        <p14:creationId xmlns:p14="http://schemas.microsoft.com/office/powerpoint/2010/main" val="1519309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799D70E3-211C-325F-CCA4-A7C380536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CBE67E-FD83-ED4C-93D5-9DBEF89D12D9}" type="datetimeFigureOut">
              <a:rPr lang="fr-FR"/>
              <a:pPr>
                <a:defRPr/>
              </a:pPr>
              <a:t>14/01/2026</a:t>
            </a:fld>
            <a:endParaRPr lang="fr-FR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A7F5883-EEED-8A65-C1C5-7EEFA0794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B971A5B-1548-E8B2-BA8C-F70DD9096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5D66DA-3921-614F-BCDA-1F13F66673FC}" type="slidenum">
              <a:rPr lang="fr-FR" altLang="en-MA"/>
              <a:pPr>
                <a:defRPr/>
              </a:pPr>
              <a:t>‹#›</a:t>
            </a:fld>
            <a:endParaRPr lang="fr-FR" altLang="en-MA"/>
          </a:p>
        </p:txBody>
      </p:sp>
    </p:spTree>
    <p:extLst>
      <p:ext uri="{BB962C8B-B14F-4D97-AF65-F5344CB8AC3E}">
        <p14:creationId xmlns:p14="http://schemas.microsoft.com/office/powerpoint/2010/main" val="612923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E1F3714-278F-F2A0-08CF-8AF781762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EDDE70-676F-6548-978D-8BADF8F910B3}" type="datetimeFigureOut">
              <a:rPr lang="fr-FR"/>
              <a:pPr>
                <a:defRPr/>
              </a:pPr>
              <a:t>14/01/2026</a:t>
            </a:fld>
            <a:endParaRPr lang="fr-FR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F23482F-D16E-4435-0618-6BF98937C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7BDA67A-AFCD-7472-D789-7F17132BC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BA2EB1-7554-1F45-98FC-7CBDC5C4FC8F}" type="slidenum">
              <a:rPr lang="fr-FR" altLang="en-MA"/>
              <a:pPr>
                <a:defRPr/>
              </a:pPr>
              <a:t>‹#›</a:t>
            </a:fld>
            <a:endParaRPr lang="fr-FR" altLang="en-MA"/>
          </a:p>
        </p:txBody>
      </p:sp>
    </p:spTree>
    <p:extLst>
      <p:ext uri="{BB962C8B-B14F-4D97-AF65-F5344CB8AC3E}">
        <p14:creationId xmlns:p14="http://schemas.microsoft.com/office/powerpoint/2010/main" val="2946352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DD90ADC-5F58-4421-3800-A7807ED36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41FD91-4BB6-AF48-B855-C207EF585055}" type="datetimeFigureOut">
              <a:rPr lang="fr-FR"/>
              <a:pPr>
                <a:defRPr/>
              </a:pPr>
              <a:t>14/01/2026</a:t>
            </a:fld>
            <a:endParaRPr lang="fr-FR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EA93094-C70D-3FBC-CAAA-08AA702FB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D4B5116-3DE6-60DE-E78D-A0244FE70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02F132-4F2E-FD4C-9D6C-7B7CE8ABD81C}" type="slidenum">
              <a:rPr lang="fr-FR" altLang="en-MA"/>
              <a:pPr>
                <a:defRPr/>
              </a:pPr>
              <a:t>‹#›</a:t>
            </a:fld>
            <a:endParaRPr lang="fr-FR" altLang="en-MA"/>
          </a:p>
        </p:txBody>
      </p:sp>
    </p:spTree>
    <p:extLst>
      <p:ext uri="{BB962C8B-B14F-4D97-AF65-F5344CB8AC3E}">
        <p14:creationId xmlns:p14="http://schemas.microsoft.com/office/powerpoint/2010/main" val="569378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B11B97-E185-C8D5-70D0-2C648EE20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E79DD8-D221-F245-A3BF-503243B2445B}" type="datetimeFigureOut">
              <a:rPr lang="fr-FR"/>
              <a:pPr>
                <a:defRPr/>
              </a:pPr>
              <a:t>14/01/2026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D55A43-946F-271D-B12B-7353F9DDD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8785AA-554F-B7B9-16B2-F04E1B3E0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F6A502-0DC7-1E4F-AEDC-C1226FE2D18E}" type="slidenum">
              <a:rPr lang="fr-FR" altLang="en-MA"/>
              <a:pPr>
                <a:defRPr/>
              </a:pPr>
              <a:t>‹#›</a:t>
            </a:fld>
            <a:endParaRPr lang="fr-FR" altLang="en-MA"/>
          </a:p>
        </p:txBody>
      </p:sp>
    </p:spTree>
    <p:extLst>
      <p:ext uri="{BB962C8B-B14F-4D97-AF65-F5344CB8AC3E}">
        <p14:creationId xmlns:p14="http://schemas.microsoft.com/office/powerpoint/2010/main" val="1154874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F18476-9290-6B28-6293-77DF5ED47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1D8C34-0A72-DC41-9527-8EC6B4D528FB}" type="datetimeFigureOut">
              <a:rPr lang="fr-FR"/>
              <a:pPr>
                <a:defRPr/>
              </a:pPr>
              <a:t>14/01/2026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3A14A1-0E95-F551-8EE9-552FB7DE5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B575D-7C44-8ABE-1950-40EA3FA08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3F9F42-4C87-F244-B659-1EEB310B0338}" type="slidenum">
              <a:rPr lang="fr-FR" altLang="en-MA"/>
              <a:pPr>
                <a:defRPr/>
              </a:pPr>
              <a:t>‹#›</a:t>
            </a:fld>
            <a:endParaRPr lang="fr-FR" altLang="en-MA"/>
          </a:p>
        </p:txBody>
      </p:sp>
    </p:spTree>
    <p:extLst>
      <p:ext uri="{BB962C8B-B14F-4D97-AF65-F5344CB8AC3E}">
        <p14:creationId xmlns:p14="http://schemas.microsoft.com/office/powerpoint/2010/main" val="2370551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9735DAC2-1A8B-B1F7-4B5C-E3ACCA75BBDE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IE"/>
              <a:t>Click to edit Master title style</a:t>
            </a:r>
            <a:endParaRPr lang="fr-FR" altLang="en-IE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52E8860C-BD47-E70D-6A9E-9B4F3F72C14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IE"/>
              <a:t>Click to edit Master text styles</a:t>
            </a:r>
          </a:p>
          <a:p>
            <a:pPr lvl="1"/>
            <a:r>
              <a:rPr lang="en-US" altLang="en-IE"/>
              <a:t>Second level</a:t>
            </a:r>
          </a:p>
          <a:p>
            <a:pPr lvl="2"/>
            <a:r>
              <a:rPr lang="en-US" altLang="en-IE"/>
              <a:t>Third level</a:t>
            </a:r>
          </a:p>
          <a:p>
            <a:pPr lvl="3"/>
            <a:r>
              <a:rPr lang="en-US" altLang="en-IE"/>
              <a:t>Fourth level</a:t>
            </a:r>
          </a:p>
          <a:p>
            <a:pPr lvl="4"/>
            <a:r>
              <a:rPr lang="en-US" altLang="en-IE"/>
              <a:t>Fifth level</a:t>
            </a:r>
            <a:endParaRPr lang="fr-FR" alt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3EC22E-76C7-2B10-AC90-32E43DDF78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78B85272-1667-174B-A10F-2A39CA9684C7}" type="datetimeFigureOut">
              <a:rPr lang="fr-FR"/>
              <a:pPr>
                <a:defRPr/>
              </a:pPr>
              <a:t>14/01/2026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36C0BC-AC82-25A5-7CF3-8A008F12AB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0362DE-2ACC-6CE1-2F24-1944F1D240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6D657507-64D1-D546-A406-659ACD6C4181}" type="slidenum">
              <a:rPr lang="fr-FR" altLang="en-MA"/>
              <a:pPr>
                <a:defRPr/>
              </a:pPr>
              <a:t>‹#›</a:t>
            </a:fld>
            <a:endParaRPr lang="fr-FR" altLang="en-M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3" name="Picture 34" descr="A computer with a white screen">
            <a:extLst>
              <a:ext uri="{FF2B5EF4-FFF2-40B4-BE49-F238E27FC236}">
                <a16:creationId xmlns:a16="http://schemas.microsoft.com/office/drawing/2014/main" id="{89AC8EB6-9632-09B3-6E79-F1C407EB0CC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8"/>
            <a:ext cx="12192000" cy="685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D33E6EA-4F7E-8B33-E688-543B6C4A4D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925" y="251133"/>
            <a:ext cx="3278415" cy="1412567"/>
          </a:xfrm>
        </p:spPr>
        <p:txBody>
          <a:bodyPr rtlCol="0">
            <a:noAutofit/>
          </a:bodyPr>
          <a:lstStyle/>
          <a:p>
            <a:pPr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spc="-150" dirty="0">
                <a:solidFill>
                  <a:schemeClr val="bg1"/>
                </a:solidFill>
                <a:latin typeface="Montserrat" panose="00000500000000000000" pitchFamily="2" charset="0"/>
              </a:rPr>
              <a:t>CSC 1010</a:t>
            </a:r>
            <a:br>
              <a:rPr lang="en-US" sz="2200" spc="-150" dirty="0">
                <a:solidFill>
                  <a:schemeClr val="bg1"/>
                </a:solidFill>
                <a:latin typeface="Montserrat" panose="00000500000000000000" pitchFamily="2" charset="0"/>
              </a:rPr>
            </a:br>
            <a:r>
              <a:rPr lang="en-US" sz="2200" spc="-150" dirty="0">
                <a:solidFill>
                  <a:schemeClr val="bg1"/>
                </a:solidFill>
                <a:latin typeface="Montserrat" panose="00000500000000000000" pitchFamily="2" charset="0"/>
              </a:rPr>
              <a:t>Networks &amp; Internet</a:t>
            </a:r>
            <a:endParaRPr lang="fr-FR" sz="2200" spc="-15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3315" name="Subtitle 2">
            <a:extLst>
              <a:ext uri="{FF2B5EF4-FFF2-40B4-BE49-F238E27FC236}">
                <a16:creationId xmlns:a16="http://schemas.microsoft.com/office/drawing/2014/main" id="{3DAEA46F-6EB4-D8EA-7F7B-EA7D98F651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50717" y="3075651"/>
            <a:ext cx="3008313" cy="536575"/>
          </a:xfrm>
        </p:spPr>
        <p:txBody>
          <a:bodyPr/>
          <a:lstStyle/>
          <a:p>
            <a:pPr algn="l" eaLnBrk="1" hangingPunct="1">
              <a:lnSpc>
                <a:spcPct val="100000"/>
              </a:lnSpc>
            </a:pPr>
            <a:r>
              <a:rPr lang="en-US" altLang="en-US" spc="-150" dirty="0">
                <a:solidFill>
                  <a:schemeClr val="bg1"/>
                </a:solidFill>
                <a:latin typeface="Montserrat" panose="00000500000000000000" pitchFamily="2" charset="0"/>
                <a:ea typeface="+mj-ea"/>
                <a:cs typeface="+mj-cs"/>
              </a:rPr>
              <a:t>Network Models</a:t>
            </a:r>
            <a:endParaRPr lang="fr-FR" altLang="en-US" spc="-150" dirty="0">
              <a:solidFill>
                <a:schemeClr val="bg1"/>
              </a:solidFill>
              <a:latin typeface="Montserrat" panose="00000500000000000000" pitchFamily="2" charset="0"/>
              <a:ea typeface="+mj-ea"/>
              <a:cs typeface="+mj-cs"/>
            </a:endParaRPr>
          </a:p>
        </p:txBody>
      </p:sp>
      <p:sp>
        <p:nvSpPr>
          <p:cNvPr id="13316" name="TextBox 10">
            <a:extLst>
              <a:ext uri="{FF2B5EF4-FFF2-40B4-BE49-F238E27FC236}">
                <a16:creationId xmlns:a16="http://schemas.microsoft.com/office/drawing/2014/main" id="{6060747F-4020-07EF-0892-92D37CD397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990" y="2269222"/>
            <a:ext cx="299285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fr-FR" altLang="en-IE" sz="1800" spc="-150" dirty="0">
                <a:solidFill>
                  <a:schemeClr val="bg1"/>
                </a:solidFill>
                <a:latin typeface="Montserrat" panose="00000500000000000000" pitchFamily="2" charset="0"/>
                <a:ea typeface="+mj-ea"/>
                <a:cs typeface="+mj-cs"/>
              </a:rPr>
              <a:t>Dr. Mohammed Amine TOGOU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D4B7F6A-9786-0D4F-6FC5-157E9B86CC4A}"/>
              </a:ext>
            </a:extLst>
          </p:cNvPr>
          <p:cNvCxnSpPr/>
          <p:nvPr/>
        </p:nvCxnSpPr>
        <p:spPr>
          <a:xfrm>
            <a:off x="3419475" y="2592388"/>
            <a:ext cx="0" cy="114141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3318" name="Picture 22" descr="A white arrow on a black background&#10;&#10;Description automatically generated">
            <a:extLst>
              <a:ext uri="{FF2B5EF4-FFF2-40B4-BE49-F238E27FC236}">
                <a16:creationId xmlns:a16="http://schemas.microsoft.com/office/drawing/2014/main" id="{135E4D8B-D689-C84C-E484-54A44EEA1E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8725" y="1395413"/>
            <a:ext cx="620713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9" name="Picture 24" descr="A white arrow pointing to the left&#10;&#10;Description automatically generated">
            <a:extLst>
              <a:ext uri="{FF2B5EF4-FFF2-40B4-BE49-F238E27FC236}">
                <a16:creationId xmlns:a16="http://schemas.microsoft.com/office/drawing/2014/main" id="{CCB4A6B5-6790-0C6D-32D9-5DB7417FC8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1288" y="3927475"/>
            <a:ext cx="511175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21" name="TextBox 28">
            <a:extLst>
              <a:ext uri="{FF2B5EF4-FFF2-40B4-BE49-F238E27FC236}">
                <a16:creationId xmlns:a16="http://schemas.microsoft.com/office/drawing/2014/main" id="{DF62BE35-EFA1-0F9F-E5D0-280ADCEB8E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6200775"/>
            <a:ext cx="6286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fr-FR" altLang="en-IE" sz="2000" dirty="0">
                <a:solidFill>
                  <a:schemeClr val="bg1"/>
                </a:solidFill>
                <a:latin typeface="Montserrat" pitchFamily="2" charset="77"/>
              </a:rPr>
              <a:t>1</a:t>
            </a:r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580C249B-97D9-EA1D-1F47-C8ED9DA549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42908" y="95470"/>
            <a:ext cx="1017866" cy="1108384"/>
          </a:xfrm>
          <a:prstGeom prst="rect">
            <a:avLst/>
          </a:prstGeom>
        </p:spPr>
      </p:pic>
      <p:pic>
        <p:nvPicPr>
          <p:cNvPr id="4" name="Picture 2" descr="Picture showing cables connected to the switch">
            <a:extLst>
              <a:ext uri="{FF2B5EF4-FFF2-40B4-BE49-F238E27FC236}">
                <a16:creationId xmlns:a16="http://schemas.microsoft.com/office/drawing/2014/main" id="{2804282E-5DC2-A70B-885D-0122043BB5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9030" y="1541721"/>
            <a:ext cx="5732970" cy="3604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7" name="Picture 4">
            <a:extLst>
              <a:ext uri="{FF2B5EF4-FFF2-40B4-BE49-F238E27FC236}">
                <a16:creationId xmlns:a16="http://schemas.microsoft.com/office/drawing/2014/main" id="{538A0F5D-D80B-B1DD-EFE6-FC54C7845C2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0"/>
            <a:ext cx="1218565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085A464-8B67-B69C-2C23-EDA1FE2C7E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8025" y="298450"/>
            <a:ext cx="6897688" cy="687388"/>
          </a:xfrm>
        </p:spPr>
        <p:txBody>
          <a:bodyPr rtlCol="0">
            <a:normAutofit/>
          </a:bodyPr>
          <a:lstStyle/>
          <a:p>
            <a:pPr algn="l" eaLnBrk="1" fontAlgn="auto" hangingPunct="1">
              <a:lnSpc>
                <a:spcPct val="60000"/>
              </a:lnSpc>
              <a:spcAft>
                <a:spcPts val="0"/>
              </a:spcAft>
              <a:defRPr/>
            </a:pPr>
            <a:r>
              <a:rPr lang="en-US" sz="2400" b="1" spc="-150" dirty="0">
                <a:solidFill>
                  <a:schemeClr val="bg1"/>
                </a:solidFill>
                <a:latin typeface="Montserrat Medium" panose="00000600000000000000" pitchFamily="50" charset="0"/>
              </a:rPr>
              <a:t>Learning outcomes</a:t>
            </a:r>
            <a:endParaRPr lang="fr-FR" sz="2400" b="1" spc="-150" dirty="0">
              <a:solidFill>
                <a:schemeClr val="bg1"/>
              </a:solidFill>
              <a:latin typeface="Montserrat Medium" panose="00000600000000000000" pitchFamily="50" charset="0"/>
            </a:endParaRPr>
          </a:p>
        </p:txBody>
      </p:sp>
      <p:sp>
        <p:nvSpPr>
          <p:cNvPr id="14339" name="Subtitle 2">
            <a:extLst>
              <a:ext uri="{FF2B5EF4-FFF2-40B4-BE49-F238E27FC236}">
                <a16:creationId xmlns:a16="http://schemas.microsoft.com/office/drawing/2014/main" id="{095397B2-6DB6-92C2-A0D5-9D114CA96C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0005" y="2581920"/>
            <a:ext cx="5474240" cy="2561486"/>
          </a:xfrm>
        </p:spPr>
        <p:txBody>
          <a:bodyPr/>
          <a:lstStyle/>
          <a:p>
            <a:pPr algn="l">
              <a:lnSpc>
                <a:spcPct val="100000"/>
              </a:lnSpc>
            </a:pPr>
            <a:r>
              <a:rPr lang="en-IE" sz="1800" dirty="0">
                <a:solidFill>
                  <a:schemeClr val="bg1"/>
                </a:solidFill>
                <a:latin typeface="Montserrat" panose="00000500000000000000" pitchFamily="50" charset="0"/>
              </a:rPr>
              <a:t>• Enumerate the layers of the OSI and TCP/IP models and explain what each layer does</a:t>
            </a:r>
          </a:p>
          <a:p>
            <a:pPr algn="l">
              <a:lnSpc>
                <a:spcPct val="100000"/>
              </a:lnSpc>
            </a:pPr>
            <a:r>
              <a:rPr lang="en-IE" sz="1800" dirty="0">
                <a:solidFill>
                  <a:schemeClr val="bg1"/>
                </a:solidFill>
                <a:latin typeface="Montserrat" panose="00000500000000000000" pitchFamily="50" charset="0"/>
              </a:rPr>
              <a:t>• </a:t>
            </a:r>
            <a:r>
              <a:rPr lang="en-IE" altLang="en-IE" sz="1800" dirty="0">
                <a:solidFill>
                  <a:schemeClr val="bg1"/>
                </a:solidFill>
                <a:latin typeface="Montserrat" pitchFamily="2" charset="77"/>
              </a:rPr>
              <a:t>Give examples of protocols used in each layer</a:t>
            </a:r>
          </a:p>
          <a:p>
            <a:pPr algn="l">
              <a:lnSpc>
                <a:spcPct val="100000"/>
              </a:lnSpc>
            </a:pPr>
            <a:r>
              <a:rPr lang="en-IE" sz="1800" dirty="0">
                <a:solidFill>
                  <a:schemeClr val="bg1"/>
                </a:solidFill>
                <a:latin typeface="Montserrat" panose="00000500000000000000" pitchFamily="50" charset="0"/>
              </a:rPr>
              <a:t>• Describe the concept of data encapsulation</a:t>
            </a:r>
          </a:p>
          <a:p>
            <a:pPr algn="l">
              <a:lnSpc>
                <a:spcPct val="100000"/>
              </a:lnSpc>
            </a:pPr>
            <a:endParaRPr lang="en-IE" altLang="en-IE" sz="1800" dirty="0">
              <a:solidFill>
                <a:schemeClr val="bg1"/>
              </a:solidFill>
              <a:latin typeface="Montserrat" pitchFamily="2" charset="77"/>
            </a:endParaRPr>
          </a:p>
          <a:p>
            <a:pPr algn="l" eaLnBrk="1" hangingPunct="1">
              <a:lnSpc>
                <a:spcPct val="100000"/>
              </a:lnSpc>
            </a:pPr>
            <a:endParaRPr lang="en-IE" altLang="en-IE" sz="1800" dirty="0">
              <a:solidFill>
                <a:schemeClr val="bg1"/>
              </a:solidFill>
              <a:latin typeface="Montserrat" pitchFamily="2" charset="77"/>
            </a:endParaRPr>
          </a:p>
        </p:txBody>
      </p:sp>
      <p:pic>
        <p:nvPicPr>
          <p:cNvPr id="14340" name="Picture 22" descr="A white arrow on a black background&#10;&#10;Description automatically generated">
            <a:extLst>
              <a:ext uri="{FF2B5EF4-FFF2-40B4-BE49-F238E27FC236}">
                <a16:creationId xmlns:a16="http://schemas.microsoft.com/office/drawing/2014/main" id="{21CDCAD6-C487-1CEA-0B3F-FBF8EAD9D8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073575">
            <a:off x="6426986" y="2386628"/>
            <a:ext cx="643648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1" name="Picture 24" descr="A white arrow pointing to the left&#10;&#10;Description automatically generated">
            <a:extLst>
              <a:ext uri="{FF2B5EF4-FFF2-40B4-BE49-F238E27FC236}">
                <a16:creationId xmlns:a16="http://schemas.microsoft.com/office/drawing/2014/main" id="{83FF15E0-E373-8060-6831-672C496D7F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3558065">
            <a:off x="4776253" y="5496803"/>
            <a:ext cx="512763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2" name="Picture 26" descr="A white line on a black background&#10;&#10;Description automatically generated">
            <a:extLst>
              <a:ext uri="{FF2B5EF4-FFF2-40B4-BE49-F238E27FC236}">
                <a16:creationId xmlns:a16="http://schemas.microsoft.com/office/drawing/2014/main" id="{85E15090-30CB-A450-3976-A25A342CEF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985770">
            <a:off x="1682363" y="1745747"/>
            <a:ext cx="412750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3" name="TextBox 28">
            <a:extLst>
              <a:ext uri="{FF2B5EF4-FFF2-40B4-BE49-F238E27FC236}">
                <a16:creationId xmlns:a16="http://schemas.microsoft.com/office/drawing/2014/main" id="{0D2A8417-8139-B31B-A64C-A9F6C2BD97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6200775"/>
            <a:ext cx="6286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fr-FR" altLang="en-IE" sz="2000" dirty="0">
                <a:solidFill>
                  <a:schemeClr val="bg1"/>
                </a:solidFill>
                <a:latin typeface="Montserrat" pitchFamily="2" charset="77"/>
              </a:rPr>
              <a:t>2</a:t>
            </a:r>
          </a:p>
        </p:txBody>
      </p:sp>
      <p:pic>
        <p:nvPicPr>
          <p:cNvPr id="14346" name="Picture 13" descr="A group of people working on a project&#10;&#10;Description automatically generated">
            <a:extLst>
              <a:ext uri="{FF2B5EF4-FFF2-40B4-BE49-F238E27FC236}">
                <a16:creationId xmlns:a16="http://schemas.microsoft.com/office/drawing/2014/main" id="{4C2F92D4-FEA2-918D-EC43-3B85609A3AC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7321" y="1885393"/>
            <a:ext cx="4881562" cy="411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16">
            <a:extLst>
              <a:ext uri="{FF2B5EF4-FFF2-40B4-BE49-F238E27FC236}">
                <a16:creationId xmlns:a16="http://schemas.microsoft.com/office/drawing/2014/main" id="{83A4A615-1CA6-257A-248F-5EABB9039C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5087" y="6421050"/>
            <a:ext cx="468373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IE" sz="1200" dirty="0">
                <a:solidFill>
                  <a:schemeClr val="bg1"/>
                </a:solidFill>
                <a:latin typeface="Montserrat" pitchFamily="2" charset="77"/>
              </a:rPr>
              <a:t>CSC 1010: Networks &amp; Internet  </a:t>
            </a:r>
            <a:r>
              <a:rPr lang="ar-MA" altLang="en-IE" sz="1200" dirty="0">
                <a:solidFill>
                  <a:schemeClr val="bg1"/>
                </a:solidFill>
                <a:latin typeface="Montserrat" pitchFamily="2" charset="77"/>
              </a:rPr>
              <a:t>  </a:t>
            </a:r>
            <a:r>
              <a:rPr lang="en-US" altLang="en-IE" sz="1200" dirty="0">
                <a:solidFill>
                  <a:schemeClr val="bg1"/>
                </a:solidFill>
                <a:latin typeface="Montserrat" pitchFamily="2" charset="77"/>
              </a:rPr>
              <a:t> | </a:t>
            </a:r>
            <a:r>
              <a:rPr lang="ar-MA" altLang="en-IE" sz="1200" dirty="0">
                <a:solidFill>
                  <a:schemeClr val="bg1"/>
                </a:solidFill>
                <a:latin typeface="Montserrat" pitchFamily="2" charset="77"/>
              </a:rPr>
              <a:t>  </a:t>
            </a:r>
            <a:r>
              <a:rPr lang="en-US" altLang="en-IE" sz="1200" dirty="0">
                <a:solidFill>
                  <a:schemeClr val="bg1"/>
                </a:solidFill>
                <a:latin typeface="Montserrat" pitchFamily="2" charset="77"/>
              </a:rPr>
              <a:t>  Network Models</a:t>
            </a:r>
            <a:endParaRPr lang="fr-FR" altLang="en-IE" sz="1200" dirty="0">
              <a:solidFill>
                <a:schemeClr val="bg1"/>
              </a:solidFill>
              <a:latin typeface="Montserrat" pitchFamily="2" charset="77"/>
            </a:endParaRPr>
          </a:p>
        </p:txBody>
      </p: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5747CBB1-B874-5C1B-910E-E6EBEE96DC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42908" y="148020"/>
            <a:ext cx="1017866" cy="11083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576FD-A619-4C9D-6E31-913543102F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8025" y="298450"/>
            <a:ext cx="6897688" cy="687388"/>
          </a:xfrm>
        </p:spPr>
        <p:txBody>
          <a:bodyPr rtlCol="0">
            <a:normAutofit/>
          </a:bodyPr>
          <a:lstStyle/>
          <a:p>
            <a:pPr algn="l" eaLnBrk="1" fontAlgn="auto" hangingPunct="1">
              <a:lnSpc>
                <a:spcPct val="60000"/>
              </a:lnSpc>
              <a:spcAft>
                <a:spcPts val="0"/>
              </a:spcAft>
              <a:defRPr/>
            </a:pPr>
            <a:r>
              <a:rPr lang="en-IE" sz="2400" b="1" spc="-150" dirty="0">
                <a:solidFill>
                  <a:srgbClr val="294BF9"/>
                </a:solidFill>
                <a:latin typeface="Montserrat Medium" panose="00000600000000000000" pitchFamily="50" charset="0"/>
              </a:rPr>
              <a:t>Layered communication</a:t>
            </a:r>
          </a:p>
        </p:txBody>
      </p:sp>
      <p:sp>
        <p:nvSpPr>
          <p:cNvPr id="15364" name="TextBox 28">
            <a:extLst>
              <a:ext uri="{FF2B5EF4-FFF2-40B4-BE49-F238E27FC236}">
                <a16:creationId xmlns:a16="http://schemas.microsoft.com/office/drawing/2014/main" id="{F86E253E-AF0D-5F07-000B-98E7CCEFAD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6200775"/>
            <a:ext cx="6286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fr-FR" altLang="en-IE" sz="2000" dirty="0">
                <a:solidFill>
                  <a:srgbClr val="294BF9"/>
                </a:solidFill>
                <a:latin typeface="Montserrat" pitchFamily="2" charset="77"/>
              </a:rPr>
              <a:t>3</a:t>
            </a:r>
          </a:p>
        </p:txBody>
      </p: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626AACD3-0630-95F8-E34A-BACC054E15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908" y="148020"/>
            <a:ext cx="1017866" cy="1108384"/>
          </a:xfrm>
          <a:prstGeom prst="rect">
            <a:avLst/>
          </a:prstGeom>
        </p:spPr>
      </p:pic>
      <p:sp>
        <p:nvSpPr>
          <p:cNvPr id="3" name="TextBox 11">
            <a:extLst>
              <a:ext uri="{FF2B5EF4-FFF2-40B4-BE49-F238E27FC236}">
                <a16:creationId xmlns:a16="http://schemas.microsoft.com/office/drawing/2014/main" id="{06000636-7D1F-05C1-085B-8113177106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5713" y="6391268"/>
            <a:ext cx="45614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CSC1010: Networks &amp; Internet  </a:t>
            </a:r>
            <a:r>
              <a:rPr lang="ar-MA" altLang="en-IE" sz="1200" dirty="0">
                <a:solidFill>
                  <a:srgbClr val="294BF9"/>
                </a:solidFill>
                <a:latin typeface="Montserrat" pitchFamily="2" charset="77"/>
              </a:rPr>
              <a:t>  </a:t>
            </a: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 | </a:t>
            </a:r>
            <a:r>
              <a:rPr lang="ar-MA" altLang="en-IE" sz="1200" dirty="0">
                <a:solidFill>
                  <a:srgbClr val="294BF9"/>
                </a:solidFill>
                <a:latin typeface="Montserrat" pitchFamily="2" charset="77"/>
              </a:rPr>
              <a:t>  </a:t>
            </a: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  Network models</a:t>
            </a:r>
            <a:endParaRPr lang="fr-FR" altLang="en-IE" sz="1200" dirty="0">
              <a:solidFill>
                <a:srgbClr val="294BF9"/>
              </a:solidFill>
              <a:latin typeface="Montserrat" pitchFamily="2" charset="77"/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6612F1AF-A2D0-9E0E-0752-29DC47BABD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8024" y="1206741"/>
            <a:ext cx="6514662" cy="4994034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342900" indent="-342900"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We use the concept of layers in our daily life,  e.g., corresponding through postal mail.</a:t>
            </a: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 </a:t>
            </a:r>
          </a:p>
          <a:p>
            <a:pPr marL="342900" indent="-342900"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3 actors: a sender, a receiver, and a carrier that transports the letter. </a:t>
            </a:r>
          </a:p>
          <a:p>
            <a:pPr marL="342900" indent="-342900"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There is a hierarchy of tasks.</a:t>
            </a:r>
          </a:p>
          <a:p>
            <a:pPr marL="342900" indent="-342900"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E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Each layer at the sending site uses the services of the layer immediately below it.</a:t>
            </a:r>
          </a:p>
          <a:p>
            <a:pPr marL="342900" indent="-342900"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E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The lowest layer uses the services of the carrier.</a:t>
            </a:r>
          </a:p>
        </p:txBody>
      </p:sp>
      <p:pic>
        <p:nvPicPr>
          <p:cNvPr id="7172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222686" y="1711234"/>
            <a:ext cx="4463384" cy="40652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10C2B-9F59-56D4-AF7D-A8D20B299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E7E45-7224-93E5-490D-88CC1E9293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8025" y="298450"/>
            <a:ext cx="6897688" cy="687388"/>
          </a:xfrm>
        </p:spPr>
        <p:txBody>
          <a:bodyPr rtlCol="0">
            <a:normAutofit/>
          </a:bodyPr>
          <a:lstStyle/>
          <a:p>
            <a:pPr algn="l" eaLnBrk="1" fontAlgn="auto" hangingPunct="1">
              <a:lnSpc>
                <a:spcPct val="60000"/>
              </a:lnSpc>
              <a:spcAft>
                <a:spcPts val="0"/>
              </a:spcAft>
              <a:defRPr/>
            </a:pPr>
            <a:r>
              <a:rPr lang="en-IE" sz="2400" b="1" spc="-150" dirty="0">
                <a:solidFill>
                  <a:srgbClr val="294BF9"/>
                </a:solidFill>
                <a:latin typeface="Montserrat Medium" panose="00000600000000000000" pitchFamily="50" charset="0"/>
              </a:rPr>
              <a:t>Layered communication</a:t>
            </a:r>
          </a:p>
        </p:txBody>
      </p:sp>
      <p:sp>
        <p:nvSpPr>
          <p:cNvPr id="15364" name="TextBox 28">
            <a:extLst>
              <a:ext uri="{FF2B5EF4-FFF2-40B4-BE49-F238E27FC236}">
                <a16:creationId xmlns:a16="http://schemas.microsoft.com/office/drawing/2014/main" id="{E65ABA2B-4E65-1314-06AE-58DDC3E24D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6200775"/>
            <a:ext cx="6286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fr-FR" altLang="en-IE" sz="2000" dirty="0">
                <a:solidFill>
                  <a:srgbClr val="294BF9"/>
                </a:solidFill>
                <a:latin typeface="Montserrat" pitchFamily="2" charset="77"/>
              </a:rPr>
              <a:t>4</a:t>
            </a:r>
          </a:p>
        </p:txBody>
      </p: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9E4FF100-8428-EF33-8590-B1491FDDF5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908" y="148020"/>
            <a:ext cx="1017866" cy="1108384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C3440A8A-59C8-946B-3308-FFA9A8960C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3450" y="1506398"/>
            <a:ext cx="5798557" cy="4599441"/>
          </a:xfrm>
        </p:spPr>
        <p:txBody>
          <a:bodyPr>
            <a:noAutofit/>
          </a:bodyPr>
          <a:lstStyle/>
          <a:p>
            <a:pPr marL="342900" indent="-342900"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In networking, we have something similar </a:t>
            </a:r>
          </a:p>
          <a:p>
            <a:pPr marL="342900" indent="-342900"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We call this setup a layered communication</a:t>
            </a:r>
          </a:p>
          <a:p>
            <a:pPr marL="342900" lvl="1" indent="-342900"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The bottom layer is the 0’s and 1’s</a:t>
            </a:r>
          </a:p>
          <a:p>
            <a:pPr marL="342900" lvl="1" indent="-342900"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The top layer is the available services</a:t>
            </a:r>
          </a:p>
          <a:p>
            <a:pPr marL="342900" lvl="1" indent="-342900"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And there are many layers in-between</a:t>
            </a:r>
          </a:p>
          <a:p>
            <a:pPr algn="l"/>
            <a:endParaRPr lang="en-GB" dirty="0">
              <a:solidFill>
                <a:schemeClr val="tx1">
                  <a:lumMod val="95000"/>
                  <a:lumOff val="5000"/>
                </a:schemeClr>
              </a:solidFill>
              <a:latin typeface="Montserrat" panose="00000500000000000000" pitchFamily="50" charset="0"/>
            </a:endParaRP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9636F038-47FF-678E-9998-014E8F681C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5713" y="6391268"/>
            <a:ext cx="45614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CSC1010: Networks &amp; Internet  </a:t>
            </a:r>
            <a:r>
              <a:rPr lang="ar-MA" altLang="en-IE" sz="1200" dirty="0">
                <a:solidFill>
                  <a:srgbClr val="294BF9"/>
                </a:solidFill>
                <a:latin typeface="Montserrat" pitchFamily="2" charset="77"/>
              </a:rPr>
              <a:t>  </a:t>
            </a: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 | </a:t>
            </a:r>
            <a:r>
              <a:rPr lang="ar-MA" altLang="en-IE" sz="1200" dirty="0">
                <a:solidFill>
                  <a:srgbClr val="294BF9"/>
                </a:solidFill>
                <a:latin typeface="Montserrat" pitchFamily="2" charset="77"/>
              </a:rPr>
              <a:t>  </a:t>
            </a: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  Network models</a:t>
            </a:r>
            <a:endParaRPr lang="fr-FR" altLang="en-IE" sz="1200" dirty="0">
              <a:solidFill>
                <a:srgbClr val="294BF9"/>
              </a:solidFill>
              <a:latin typeface="Montserrat" pitchFamily="2" charset="77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B5F012-A792-A3A5-C35C-2784B02F4B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1221" y="629080"/>
            <a:ext cx="3568881" cy="5332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529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53D70-CA40-B69B-A1DC-2BF30250C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61B4C-2D36-CB4F-E862-3496BF2098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8025" y="298450"/>
            <a:ext cx="6897688" cy="687388"/>
          </a:xfrm>
        </p:spPr>
        <p:txBody>
          <a:bodyPr rtlCol="0">
            <a:normAutofit/>
          </a:bodyPr>
          <a:lstStyle/>
          <a:p>
            <a:pPr algn="l" eaLnBrk="1" fontAlgn="auto" hangingPunct="1">
              <a:lnSpc>
                <a:spcPct val="60000"/>
              </a:lnSpc>
              <a:spcAft>
                <a:spcPts val="0"/>
              </a:spcAft>
              <a:defRPr/>
            </a:pPr>
            <a:r>
              <a:rPr lang="en-GB" sz="2400" b="1" spc="-150" dirty="0">
                <a:solidFill>
                  <a:srgbClr val="294BF9"/>
                </a:solidFill>
                <a:latin typeface="Montserrat Medium" panose="00000600000000000000" pitchFamily="50" charset="0"/>
              </a:rPr>
              <a:t>Network communication models</a:t>
            </a:r>
          </a:p>
        </p:txBody>
      </p:sp>
      <p:sp>
        <p:nvSpPr>
          <p:cNvPr id="15364" name="TextBox 28">
            <a:extLst>
              <a:ext uri="{FF2B5EF4-FFF2-40B4-BE49-F238E27FC236}">
                <a16:creationId xmlns:a16="http://schemas.microsoft.com/office/drawing/2014/main" id="{3628BAE7-189A-7D0E-870C-255A53CE3F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6200775"/>
            <a:ext cx="6286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fr-FR" altLang="en-IE" sz="2000" dirty="0">
                <a:solidFill>
                  <a:srgbClr val="294BF9"/>
                </a:solidFill>
                <a:latin typeface="Montserrat" pitchFamily="2" charset="77"/>
              </a:rPr>
              <a:t>5</a:t>
            </a:r>
          </a:p>
        </p:txBody>
      </p: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FAE3E7A5-A1E8-4B4D-DAE9-EE4302E579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908" y="148020"/>
            <a:ext cx="1017866" cy="1108384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45D4C239-D258-D253-CB9A-546E7CFDBA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8025" y="1780408"/>
            <a:ext cx="10369878" cy="3435305"/>
          </a:xfrm>
        </p:spPr>
        <p:txBody>
          <a:bodyPr>
            <a:noAutofit/>
          </a:bodyPr>
          <a:lstStyle/>
          <a:p>
            <a:pPr marL="342900" lvl="1" indent="-342900" algn="l">
              <a:lnSpc>
                <a:spcPct val="120000"/>
              </a:lnSpc>
              <a:spcBef>
                <a:spcPts val="1200"/>
              </a:spcBef>
              <a:spcAft>
                <a:spcPts val="24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There are two main communication models that you need to know:</a:t>
            </a:r>
          </a:p>
          <a:p>
            <a:pPr marL="800100" lvl="2" indent="-342900" algn="l">
              <a:lnSpc>
                <a:spcPct val="120000"/>
              </a:lnSpc>
              <a:spcBef>
                <a:spcPts val="1200"/>
              </a:spcBef>
              <a:spcAft>
                <a:spcPts val="24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0432FF"/>
                </a:solidFill>
                <a:latin typeface="Montserrat" panose="00000500000000000000" pitchFamily="50" charset="0"/>
              </a:rPr>
              <a:t>Open Systems Interconnections (OSI)</a:t>
            </a:r>
          </a:p>
          <a:p>
            <a:pPr marL="800100" lvl="2" indent="-342900" algn="l">
              <a:lnSpc>
                <a:spcPct val="120000"/>
              </a:lnSpc>
              <a:spcBef>
                <a:spcPts val="1200"/>
              </a:spcBef>
              <a:spcAft>
                <a:spcPts val="24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0432FF"/>
                </a:solidFill>
                <a:latin typeface="Montserrat" panose="00000500000000000000" pitchFamily="50" charset="0"/>
              </a:rPr>
              <a:t>TCP/IP</a:t>
            </a:r>
          </a:p>
          <a:p>
            <a:pPr algn="l"/>
            <a:endParaRPr lang="en-GB" dirty="0">
              <a:solidFill>
                <a:schemeClr val="tx1">
                  <a:lumMod val="95000"/>
                  <a:lumOff val="5000"/>
                </a:schemeClr>
              </a:solidFill>
              <a:latin typeface="Montserrat" panose="00000500000000000000" pitchFamily="50" charset="0"/>
            </a:endParaRPr>
          </a:p>
        </p:txBody>
      </p:sp>
      <p:pic>
        <p:nvPicPr>
          <p:cNvPr id="2050" name="Picture 2" descr="Communication Generic color lineal-color icon | Freepik">
            <a:extLst>
              <a:ext uri="{FF2B5EF4-FFF2-40B4-BE49-F238E27FC236}">
                <a16:creationId xmlns:a16="http://schemas.microsoft.com/office/drawing/2014/main" id="{3D61A642-92B5-2FF8-54E0-164724CE71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7069" y="2646052"/>
            <a:ext cx="3324772" cy="3324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11">
            <a:extLst>
              <a:ext uri="{FF2B5EF4-FFF2-40B4-BE49-F238E27FC236}">
                <a16:creationId xmlns:a16="http://schemas.microsoft.com/office/drawing/2014/main" id="{E47BC76C-849C-5564-83F0-569094B2E9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5713" y="6391268"/>
            <a:ext cx="45614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CSC1010: Networks &amp; Internet  </a:t>
            </a:r>
            <a:r>
              <a:rPr lang="ar-MA" altLang="en-IE" sz="1200" dirty="0">
                <a:solidFill>
                  <a:srgbClr val="294BF9"/>
                </a:solidFill>
                <a:latin typeface="Montserrat" pitchFamily="2" charset="77"/>
              </a:rPr>
              <a:t>  </a:t>
            </a: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 | </a:t>
            </a:r>
            <a:r>
              <a:rPr lang="ar-MA" altLang="en-IE" sz="1200" dirty="0">
                <a:solidFill>
                  <a:srgbClr val="294BF9"/>
                </a:solidFill>
                <a:latin typeface="Montserrat" pitchFamily="2" charset="77"/>
              </a:rPr>
              <a:t>  </a:t>
            </a: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  Network models</a:t>
            </a:r>
            <a:endParaRPr lang="fr-FR" altLang="en-IE" sz="1200" dirty="0">
              <a:solidFill>
                <a:srgbClr val="294BF9"/>
              </a:solidFill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3525715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E3700-5E66-FC0A-23C7-6EAEDAF26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5006C-0685-4C32-6134-9003B51CD6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8025" y="298450"/>
            <a:ext cx="6897688" cy="687388"/>
          </a:xfrm>
        </p:spPr>
        <p:txBody>
          <a:bodyPr rtlCol="0">
            <a:normAutofit/>
          </a:bodyPr>
          <a:lstStyle/>
          <a:p>
            <a:pPr algn="l" eaLnBrk="1" fontAlgn="auto" hangingPunct="1">
              <a:lnSpc>
                <a:spcPct val="60000"/>
              </a:lnSpc>
              <a:spcAft>
                <a:spcPts val="0"/>
              </a:spcAft>
              <a:defRPr/>
            </a:pPr>
            <a:r>
              <a:rPr lang="fr-FR" sz="2400" b="1" spc="-150" dirty="0">
                <a:solidFill>
                  <a:srgbClr val="294BF9"/>
                </a:solidFill>
                <a:latin typeface="Montserrat Medium" panose="00000600000000000000" pitchFamily="50" charset="0"/>
              </a:rPr>
              <a:t>OSI model</a:t>
            </a:r>
          </a:p>
        </p:txBody>
      </p:sp>
      <p:sp>
        <p:nvSpPr>
          <p:cNvPr id="15364" name="TextBox 28">
            <a:extLst>
              <a:ext uri="{FF2B5EF4-FFF2-40B4-BE49-F238E27FC236}">
                <a16:creationId xmlns:a16="http://schemas.microsoft.com/office/drawing/2014/main" id="{9C72865D-6B4D-F618-2064-E03CE49301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6200775"/>
            <a:ext cx="6286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fr-FR" altLang="en-IE" sz="2000" dirty="0">
                <a:solidFill>
                  <a:srgbClr val="294BF9"/>
                </a:solidFill>
                <a:latin typeface="Montserrat" pitchFamily="2" charset="77"/>
              </a:rPr>
              <a:t>6</a:t>
            </a:r>
          </a:p>
        </p:txBody>
      </p: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E3F840E7-898D-ABE9-638D-91E12A87C8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908" y="148020"/>
            <a:ext cx="1017866" cy="1108384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AC50E33C-7A9D-56EC-180E-523066F689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3450" y="2020392"/>
            <a:ext cx="5983416" cy="3606887"/>
          </a:xfrm>
        </p:spPr>
        <p:txBody>
          <a:bodyPr>
            <a:noAutofit/>
          </a:bodyPr>
          <a:lstStyle/>
          <a:p>
            <a:pPr marL="342900" indent="-342900"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It’s theoretical</a:t>
            </a:r>
          </a:p>
          <a:p>
            <a:pPr marL="342900" indent="-342900"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It’s a blueprint on how to build a network architecture from scratch</a:t>
            </a:r>
          </a:p>
          <a:p>
            <a:pPr marL="342900" indent="-342900"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It has 7 layers</a:t>
            </a:r>
          </a:p>
          <a:p>
            <a:pPr marL="342900" indent="-342900"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It defines the services provided by each layer</a:t>
            </a:r>
          </a:p>
        </p:txBody>
      </p:sp>
      <p:pic>
        <p:nvPicPr>
          <p:cNvPr id="10" name="Picture 2" descr="What are OSI Model Layers? Understanding Network Functions">
            <a:extLst>
              <a:ext uri="{FF2B5EF4-FFF2-40B4-BE49-F238E27FC236}">
                <a16:creationId xmlns:a16="http://schemas.microsoft.com/office/drawing/2014/main" id="{8905901A-5A2A-4F15-DDF6-A362DE1935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1593" y="1434423"/>
            <a:ext cx="3513322" cy="4778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1">
            <a:extLst>
              <a:ext uri="{FF2B5EF4-FFF2-40B4-BE49-F238E27FC236}">
                <a16:creationId xmlns:a16="http://schemas.microsoft.com/office/drawing/2014/main" id="{AB57BB03-E05B-1637-A6FF-36BAB64230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5713" y="6391268"/>
            <a:ext cx="45614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CSC1010: Networks &amp; Internet  </a:t>
            </a:r>
            <a:r>
              <a:rPr lang="ar-MA" altLang="en-IE" sz="1200" dirty="0">
                <a:solidFill>
                  <a:srgbClr val="294BF9"/>
                </a:solidFill>
                <a:latin typeface="Montserrat" pitchFamily="2" charset="77"/>
              </a:rPr>
              <a:t>  </a:t>
            </a: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 | </a:t>
            </a:r>
            <a:r>
              <a:rPr lang="ar-MA" altLang="en-IE" sz="1200" dirty="0">
                <a:solidFill>
                  <a:srgbClr val="294BF9"/>
                </a:solidFill>
                <a:latin typeface="Montserrat" pitchFamily="2" charset="77"/>
              </a:rPr>
              <a:t>  </a:t>
            </a: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  Network models</a:t>
            </a:r>
            <a:endParaRPr lang="fr-FR" altLang="en-IE" sz="1200" dirty="0">
              <a:solidFill>
                <a:srgbClr val="294BF9"/>
              </a:solidFill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419981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11F46-EAF4-A400-05BF-D666B2013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EA019-15C1-78ED-11A0-676555077E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8025" y="298450"/>
            <a:ext cx="6897688" cy="687388"/>
          </a:xfrm>
        </p:spPr>
        <p:txBody>
          <a:bodyPr rtlCol="0">
            <a:normAutofit/>
          </a:bodyPr>
          <a:lstStyle/>
          <a:p>
            <a:pPr algn="l" eaLnBrk="1" fontAlgn="auto" hangingPunct="1">
              <a:lnSpc>
                <a:spcPct val="60000"/>
              </a:lnSpc>
              <a:spcAft>
                <a:spcPts val="0"/>
              </a:spcAft>
              <a:defRPr/>
            </a:pPr>
            <a:r>
              <a:rPr lang="en-IE" sz="2400" b="1" spc="-150" dirty="0">
                <a:solidFill>
                  <a:srgbClr val="294BF9"/>
                </a:solidFill>
                <a:latin typeface="Montserrat Medium" panose="00000600000000000000" pitchFamily="50" charset="0"/>
              </a:rPr>
              <a:t>Application layer</a:t>
            </a:r>
            <a:endParaRPr lang="fr-FR" sz="2400" b="1" spc="-150" dirty="0">
              <a:solidFill>
                <a:srgbClr val="294BF9"/>
              </a:solidFill>
              <a:latin typeface="Montserrat Medium" panose="00000600000000000000" pitchFamily="50" charset="0"/>
            </a:endParaRPr>
          </a:p>
        </p:txBody>
      </p:sp>
      <p:sp>
        <p:nvSpPr>
          <p:cNvPr id="15364" name="TextBox 28">
            <a:extLst>
              <a:ext uri="{FF2B5EF4-FFF2-40B4-BE49-F238E27FC236}">
                <a16:creationId xmlns:a16="http://schemas.microsoft.com/office/drawing/2014/main" id="{859497C5-DFE3-A9C8-BBEA-2C0A480CFA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6200775"/>
            <a:ext cx="6286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fr-FR" altLang="en-IE" sz="2000" dirty="0">
                <a:solidFill>
                  <a:srgbClr val="294BF9"/>
                </a:solidFill>
                <a:latin typeface="Montserrat" pitchFamily="2" charset="77"/>
              </a:rPr>
              <a:t>7</a:t>
            </a:r>
          </a:p>
        </p:txBody>
      </p: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3B4D55B1-FBFB-82F2-BF3C-1D2DB829F7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908" y="148020"/>
            <a:ext cx="1017866" cy="1108384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BAF1EB5A-617F-23DA-7E81-EA08EFF438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8025" y="2347493"/>
            <a:ext cx="6433037" cy="2845133"/>
          </a:xfrm>
        </p:spPr>
        <p:txBody>
          <a:bodyPr>
            <a:noAutofit/>
          </a:bodyPr>
          <a:lstStyle/>
          <a:p>
            <a:pPr marL="342900" indent="-342900" algn="l"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This layer represents the services that directly support applications that use the web: chrome, mobile apps, etc.</a:t>
            </a:r>
          </a:p>
          <a:p>
            <a:pPr marL="342900" indent="-342900" algn="l"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It represents the level at which these applications access network services</a:t>
            </a:r>
            <a:endParaRPr lang="en-GB" dirty="0">
              <a:solidFill>
                <a:schemeClr val="tx1">
                  <a:lumMod val="95000"/>
                  <a:lumOff val="5000"/>
                </a:schemeClr>
              </a:solidFill>
              <a:latin typeface="Montserrat" panose="00000500000000000000" pitchFamily="50" charset="0"/>
            </a:endParaRPr>
          </a:p>
          <a:p>
            <a:pPr marL="342900" indent="-342900"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GB" dirty="0">
              <a:solidFill>
                <a:schemeClr val="tx1">
                  <a:lumMod val="95000"/>
                  <a:lumOff val="5000"/>
                </a:schemeClr>
              </a:solidFill>
              <a:latin typeface="Montserrat" panose="00000500000000000000" pitchFamily="50" charset="0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endParaRPr lang="en-GB" dirty="0">
              <a:solidFill>
                <a:schemeClr val="tx1">
                  <a:lumMod val="95000"/>
                  <a:lumOff val="5000"/>
                </a:schemeClr>
              </a:solidFill>
              <a:latin typeface="Montserrat" panose="00000500000000000000" pitchFamily="50" charset="0"/>
            </a:endParaRPr>
          </a:p>
          <a:p>
            <a:pPr algn="l"/>
            <a:endParaRPr lang="en-GB" dirty="0">
              <a:solidFill>
                <a:schemeClr val="tx1">
                  <a:lumMod val="95000"/>
                  <a:lumOff val="5000"/>
                </a:schemeClr>
              </a:solidFill>
              <a:latin typeface="Montserrat" panose="00000500000000000000" pitchFamily="50" charset="0"/>
            </a:endParaRPr>
          </a:p>
        </p:txBody>
      </p:sp>
      <p:pic>
        <p:nvPicPr>
          <p:cNvPr id="6" name="Picture 2" descr="What is OSI Model? - RealPars">
            <a:extLst>
              <a:ext uri="{FF2B5EF4-FFF2-40B4-BE49-F238E27FC236}">
                <a16:creationId xmlns:a16="http://schemas.microsoft.com/office/drawing/2014/main" id="{8B594782-61CE-F001-0C49-CD0A31323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0812" y="2536513"/>
            <a:ext cx="4424869" cy="2467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1">
            <a:extLst>
              <a:ext uri="{FF2B5EF4-FFF2-40B4-BE49-F238E27FC236}">
                <a16:creationId xmlns:a16="http://schemas.microsoft.com/office/drawing/2014/main" id="{F781DB66-6408-6467-66A6-08BEDA4B49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5713" y="6391268"/>
            <a:ext cx="45614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CSC1010: Networks &amp; Internet  </a:t>
            </a:r>
            <a:r>
              <a:rPr lang="ar-MA" altLang="en-IE" sz="1200" dirty="0">
                <a:solidFill>
                  <a:srgbClr val="294BF9"/>
                </a:solidFill>
                <a:latin typeface="Montserrat" pitchFamily="2" charset="77"/>
              </a:rPr>
              <a:t>  </a:t>
            </a: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 | </a:t>
            </a:r>
            <a:r>
              <a:rPr lang="ar-MA" altLang="en-IE" sz="1200" dirty="0">
                <a:solidFill>
                  <a:srgbClr val="294BF9"/>
                </a:solidFill>
                <a:latin typeface="Montserrat" pitchFamily="2" charset="77"/>
              </a:rPr>
              <a:t>  </a:t>
            </a: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  Network models</a:t>
            </a:r>
            <a:endParaRPr lang="fr-FR" altLang="en-IE" sz="1200" dirty="0">
              <a:solidFill>
                <a:srgbClr val="294BF9"/>
              </a:solidFill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013034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762BD-7195-5E8D-37F9-4EF5BAAC0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71080-CAD8-84E7-7490-A6A3FD73D5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8025" y="298450"/>
            <a:ext cx="6897688" cy="687388"/>
          </a:xfrm>
        </p:spPr>
        <p:txBody>
          <a:bodyPr rtlCol="0">
            <a:normAutofit/>
          </a:bodyPr>
          <a:lstStyle/>
          <a:p>
            <a:pPr algn="l" eaLnBrk="1" fontAlgn="auto" hangingPunct="1">
              <a:lnSpc>
                <a:spcPct val="60000"/>
              </a:lnSpc>
              <a:spcAft>
                <a:spcPts val="0"/>
              </a:spcAft>
              <a:defRPr/>
            </a:pPr>
            <a:r>
              <a:rPr lang="en-IE" sz="2400" b="1" spc="-150" dirty="0">
                <a:solidFill>
                  <a:srgbClr val="294BF9"/>
                </a:solidFill>
                <a:latin typeface="Montserrat Medium" panose="00000600000000000000" pitchFamily="50" charset="0"/>
              </a:rPr>
              <a:t>Presentation layer</a:t>
            </a:r>
          </a:p>
        </p:txBody>
      </p:sp>
      <p:sp>
        <p:nvSpPr>
          <p:cNvPr id="15364" name="TextBox 28">
            <a:extLst>
              <a:ext uri="{FF2B5EF4-FFF2-40B4-BE49-F238E27FC236}">
                <a16:creationId xmlns:a16="http://schemas.microsoft.com/office/drawing/2014/main" id="{28ADDBC4-3147-5AE6-D776-407C9C8B06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6200775"/>
            <a:ext cx="6286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fr-FR" altLang="en-IE" sz="2000" dirty="0">
                <a:solidFill>
                  <a:srgbClr val="294BF9"/>
                </a:solidFill>
                <a:latin typeface="Montserrat" pitchFamily="2" charset="77"/>
              </a:rPr>
              <a:t>8</a:t>
            </a:r>
          </a:p>
        </p:txBody>
      </p: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2EADC444-804A-D05C-B3C6-15D1F5BBF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908" y="148020"/>
            <a:ext cx="1017866" cy="1108384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857DED49-0BDF-664D-FAD9-A2BF0EF1EE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8025" y="1686455"/>
            <a:ext cx="6396968" cy="3964106"/>
          </a:xfrm>
        </p:spPr>
        <p:txBody>
          <a:bodyPr>
            <a:noAutofit/>
          </a:bodyPr>
          <a:lstStyle/>
          <a:p>
            <a:pPr marL="342900" indent="-342900"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Montserrat" panose="00000500000000000000" pitchFamily="50" charset="0"/>
            </a:endParaRPr>
          </a:p>
          <a:p>
            <a:pPr marL="342900" lvl="0" indent="-342900" algn="l" defTabSz="1200150">
              <a:lnSpc>
                <a:spcPct val="90000"/>
              </a:lnSpc>
              <a:spcBef>
                <a:spcPts val="600"/>
              </a:spcBef>
              <a:spcAft>
                <a:spcPts val="1608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It translates data from the Application layer into an intermediary format</a:t>
            </a:r>
          </a:p>
          <a:p>
            <a:pPr marL="342900" lvl="0" indent="-342900" algn="l" defTabSz="1200150">
              <a:lnSpc>
                <a:spcPct val="90000"/>
              </a:lnSpc>
              <a:spcBef>
                <a:spcPts val="600"/>
              </a:spcBef>
              <a:spcAft>
                <a:spcPts val="1608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It manages security issues by providing services such as data encryption</a:t>
            </a:r>
          </a:p>
          <a:p>
            <a:pPr marL="342900" indent="-342900" algn="l" defTabSz="1200150">
              <a:spcBef>
                <a:spcPts val="600"/>
              </a:spcBef>
              <a:spcAft>
                <a:spcPts val="1608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It compresses data so that fewer bits need to be transferred on the network</a:t>
            </a:r>
            <a:endParaRPr lang="en-US" kern="1200" dirty="0">
              <a:solidFill>
                <a:schemeClr val="tx1"/>
              </a:solidFill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endParaRPr lang="en-GB" dirty="0">
              <a:solidFill>
                <a:schemeClr val="tx1">
                  <a:lumMod val="95000"/>
                  <a:lumOff val="5000"/>
                </a:schemeClr>
              </a:solidFill>
              <a:latin typeface="Montserrat" panose="00000500000000000000" pitchFamily="50" charset="0"/>
            </a:endParaRPr>
          </a:p>
          <a:p>
            <a:pPr marL="342900" indent="-342900"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GB" dirty="0">
              <a:solidFill>
                <a:schemeClr val="tx1">
                  <a:lumMod val="95000"/>
                  <a:lumOff val="5000"/>
                </a:schemeClr>
              </a:solidFill>
              <a:latin typeface="Montserrat" panose="00000500000000000000" pitchFamily="50" charset="0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endParaRPr lang="en-GB" dirty="0">
              <a:solidFill>
                <a:schemeClr val="tx1">
                  <a:lumMod val="95000"/>
                  <a:lumOff val="5000"/>
                </a:schemeClr>
              </a:solidFill>
              <a:latin typeface="Montserrat" panose="00000500000000000000" pitchFamily="50" charset="0"/>
            </a:endParaRPr>
          </a:p>
          <a:p>
            <a:pPr algn="l"/>
            <a:endParaRPr lang="en-GB" dirty="0">
              <a:solidFill>
                <a:schemeClr val="tx1">
                  <a:lumMod val="95000"/>
                  <a:lumOff val="5000"/>
                </a:schemeClr>
              </a:solidFill>
              <a:latin typeface="Montserrat" panose="00000500000000000000" pitchFamily="50" charset="0"/>
            </a:endParaRPr>
          </a:p>
        </p:txBody>
      </p:sp>
      <p:pic>
        <p:nvPicPr>
          <p:cNvPr id="6" name="Picture 2" descr="What is OSI Model? - RealPars">
            <a:extLst>
              <a:ext uri="{FF2B5EF4-FFF2-40B4-BE49-F238E27FC236}">
                <a16:creationId xmlns:a16="http://schemas.microsoft.com/office/drawing/2014/main" id="{131F78C4-31FA-A75A-A391-EBD257A717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1159" y="2247695"/>
            <a:ext cx="4240440" cy="2362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11">
            <a:extLst>
              <a:ext uri="{FF2B5EF4-FFF2-40B4-BE49-F238E27FC236}">
                <a16:creationId xmlns:a16="http://schemas.microsoft.com/office/drawing/2014/main" id="{D4DA3349-73EB-2D6A-D21E-B6FDCB93F3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5713" y="6391268"/>
            <a:ext cx="45614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CSC1010: Networks &amp; Internet  </a:t>
            </a:r>
            <a:r>
              <a:rPr lang="ar-MA" altLang="en-IE" sz="1200" dirty="0">
                <a:solidFill>
                  <a:srgbClr val="294BF9"/>
                </a:solidFill>
                <a:latin typeface="Montserrat" pitchFamily="2" charset="77"/>
              </a:rPr>
              <a:t>  </a:t>
            </a: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 | </a:t>
            </a:r>
            <a:r>
              <a:rPr lang="ar-MA" altLang="en-IE" sz="1200" dirty="0">
                <a:solidFill>
                  <a:srgbClr val="294BF9"/>
                </a:solidFill>
                <a:latin typeface="Montserrat" pitchFamily="2" charset="77"/>
              </a:rPr>
              <a:t>  </a:t>
            </a: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  Network models</a:t>
            </a:r>
            <a:endParaRPr lang="fr-FR" altLang="en-IE" sz="1200" dirty="0">
              <a:solidFill>
                <a:srgbClr val="294BF9"/>
              </a:solidFill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6707939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9C0DA-5652-EDA3-28F3-73229141A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0A05B-C9EF-F61D-D8BA-03C4F197A0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8025" y="298450"/>
            <a:ext cx="6897688" cy="687388"/>
          </a:xfrm>
        </p:spPr>
        <p:txBody>
          <a:bodyPr rtlCol="0">
            <a:normAutofit/>
          </a:bodyPr>
          <a:lstStyle/>
          <a:p>
            <a:pPr algn="l" eaLnBrk="1" fontAlgn="auto" hangingPunct="1">
              <a:lnSpc>
                <a:spcPct val="60000"/>
              </a:lnSpc>
              <a:spcAft>
                <a:spcPts val="0"/>
              </a:spcAft>
              <a:defRPr/>
            </a:pPr>
            <a:r>
              <a:rPr lang="en-IE" sz="2400" b="1" spc="-150" dirty="0">
                <a:solidFill>
                  <a:srgbClr val="294BF9"/>
                </a:solidFill>
                <a:latin typeface="Montserrat Medium" panose="00000600000000000000" pitchFamily="50" charset="0"/>
              </a:rPr>
              <a:t>Session layer </a:t>
            </a:r>
          </a:p>
        </p:txBody>
      </p:sp>
      <p:sp>
        <p:nvSpPr>
          <p:cNvPr id="15364" name="TextBox 28">
            <a:extLst>
              <a:ext uri="{FF2B5EF4-FFF2-40B4-BE49-F238E27FC236}">
                <a16:creationId xmlns:a16="http://schemas.microsoft.com/office/drawing/2014/main" id="{E866E21B-4E46-2B18-3D99-352630DDC6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6200775"/>
            <a:ext cx="6286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fr-FR" altLang="en-IE" sz="2000" dirty="0">
                <a:solidFill>
                  <a:srgbClr val="294BF9"/>
                </a:solidFill>
                <a:latin typeface="Montserrat" pitchFamily="2" charset="77"/>
              </a:rPr>
              <a:t>9</a:t>
            </a:r>
          </a:p>
        </p:txBody>
      </p: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1F61A59A-54BF-364D-0D97-1CAD450A5A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908" y="148020"/>
            <a:ext cx="1017866" cy="1108384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EB360B6C-6EC1-FAA2-20EE-6DE6F7C8A0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3450" y="1629267"/>
            <a:ext cx="5619203" cy="4140911"/>
          </a:xfrm>
        </p:spPr>
        <p:txBody>
          <a:bodyPr>
            <a:noAutofit/>
          </a:bodyPr>
          <a:lstStyle/>
          <a:p>
            <a:pPr marL="342900" lvl="0" indent="-342900" algn="l" defTabSz="1200150">
              <a:lnSpc>
                <a:spcPct val="90000"/>
              </a:lnSpc>
              <a:spcBef>
                <a:spcPts val="600"/>
              </a:spcBef>
              <a:spcAft>
                <a:spcPts val="1608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It allows two applications on different computers to establish, use, and end a session</a:t>
            </a:r>
          </a:p>
          <a:p>
            <a:pPr marL="342900" indent="-342900" algn="l" defTabSz="1200150">
              <a:spcBef>
                <a:spcPts val="600"/>
              </a:spcBef>
              <a:spcAft>
                <a:spcPts val="1608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It establishes dialog control between the two computers in a session </a:t>
            </a:r>
          </a:p>
          <a:p>
            <a:pPr marL="800100" lvl="1" indent="-342900" algn="l" defTabSz="1200150">
              <a:spcBef>
                <a:spcPts val="600"/>
              </a:spcBef>
              <a:spcAft>
                <a:spcPts val="1608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It regulates which side should transmit, plus when and how long it can transmit</a:t>
            </a:r>
            <a:endParaRPr lang="en-GB" sz="2400" dirty="0">
              <a:solidFill>
                <a:schemeClr val="tx1">
                  <a:lumMod val="95000"/>
                  <a:lumOff val="5000"/>
                </a:schemeClr>
              </a:solidFill>
              <a:latin typeface="Montserrat" panose="00000500000000000000" pitchFamily="50" charset="0"/>
            </a:endParaRPr>
          </a:p>
          <a:p>
            <a:pPr algn="l"/>
            <a:endParaRPr lang="en-GB" dirty="0">
              <a:solidFill>
                <a:schemeClr val="tx1">
                  <a:lumMod val="95000"/>
                  <a:lumOff val="5000"/>
                </a:schemeClr>
              </a:solidFill>
              <a:latin typeface="Montserrat" panose="00000500000000000000" pitchFamily="50" charset="0"/>
            </a:endParaRPr>
          </a:p>
        </p:txBody>
      </p:sp>
      <p:pic>
        <p:nvPicPr>
          <p:cNvPr id="11" name="Picture 6" descr="What is OSI Model? - RealPars">
            <a:extLst>
              <a:ext uri="{FF2B5EF4-FFF2-40B4-BE49-F238E27FC236}">
                <a16:creationId xmlns:a16="http://schemas.microsoft.com/office/drawing/2014/main" id="{D5DE5A2D-A1AC-3033-641C-7D9C645950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3291" y="2617076"/>
            <a:ext cx="4454225" cy="2505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1">
            <a:extLst>
              <a:ext uri="{FF2B5EF4-FFF2-40B4-BE49-F238E27FC236}">
                <a16:creationId xmlns:a16="http://schemas.microsoft.com/office/drawing/2014/main" id="{000202B2-0804-C68F-A78C-931CD41001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5713" y="6391268"/>
            <a:ext cx="45614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CSC1010: Networks &amp; Internet  </a:t>
            </a:r>
            <a:r>
              <a:rPr lang="ar-MA" altLang="en-IE" sz="1200" dirty="0">
                <a:solidFill>
                  <a:srgbClr val="294BF9"/>
                </a:solidFill>
                <a:latin typeface="Montserrat" pitchFamily="2" charset="77"/>
              </a:rPr>
              <a:t>  </a:t>
            </a: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 | </a:t>
            </a:r>
            <a:r>
              <a:rPr lang="ar-MA" altLang="en-IE" sz="1200" dirty="0">
                <a:solidFill>
                  <a:srgbClr val="294BF9"/>
                </a:solidFill>
                <a:latin typeface="Montserrat" pitchFamily="2" charset="77"/>
              </a:rPr>
              <a:t>  </a:t>
            </a: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  Network models</a:t>
            </a:r>
            <a:endParaRPr lang="fr-FR" altLang="en-IE" sz="1200" dirty="0">
              <a:solidFill>
                <a:srgbClr val="294BF9"/>
              </a:solidFill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381987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9AD46-F5AE-97BB-19F2-B3B481B2A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CB845-E74E-A40D-BF45-7D2841E572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8025" y="298450"/>
            <a:ext cx="6897688" cy="687388"/>
          </a:xfrm>
        </p:spPr>
        <p:txBody>
          <a:bodyPr rtlCol="0">
            <a:normAutofit/>
          </a:bodyPr>
          <a:lstStyle/>
          <a:p>
            <a:pPr algn="l" eaLnBrk="1" fontAlgn="auto" hangingPunct="1">
              <a:lnSpc>
                <a:spcPct val="60000"/>
              </a:lnSpc>
              <a:spcAft>
                <a:spcPts val="0"/>
              </a:spcAft>
              <a:defRPr/>
            </a:pPr>
            <a:r>
              <a:rPr lang="en-IE" sz="2400" b="1" spc="-150" dirty="0">
                <a:solidFill>
                  <a:srgbClr val="294BF9"/>
                </a:solidFill>
                <a:latin typeface="Montserrat Medium" panose="00000600000000000000" pitchFamily="50" charset="0"/>
              </a:rPr>
              <a:t>Transport layer</a:t>
            </a:r>
          </a:p>
        </p:txBody>
      </p:sp>
      <p:sp>
        <p:nvSpPr>
          <p:cNvPr id="15364" name="TextBox 28">
            <a:extLst>
              <a:ext uri="{FF2B5EF4-FFF2-40B4-BE49-F238E27FC236}">
                <a16:creationId xmlns:a16="http://schemas.microsoft.com/office/drawing/2014/main" id="{A2269E2B-8F22-5275-78C9-DB4E7EF62C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6200775"/>
            <a:ext cx="6286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fr-FR" altLang="en-IE" sz="2000" dirty="0">
                <a:solidFill>
                  <a:srgbClr val="294BF9"/>
                </a:solidFill>
                <a:latin typeface="Montserrat" pitchFamily="2" charset="77"/>
              </a:rPr>
              <a:t>10</a:t>
            </a:r>
          </a:p>
        </p:txBody>
      </p: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B5E96030-D7A4-8721-1BE8-4A232BD11D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908" y="148020"/>
            <a:ext cx="1017866" cy="1108384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E48235A6-EECA-ACE2-4074-CE65CA3BB6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8025" y="1521232"/>
            <a:ext cx="6327265" cy="4396092"/>
          </a:xfrm>
        </p:spPr>
        <p:txBody>
          <a:bodyPr>
            <a:noAutofit/>
          </a:bodyPr>
          <a:lstStyle/>
          <a:p>
            <a:pPr marL="342900" indent="-342900" algn="l" defTabSz="1200150">
              <a:spcBef>
                <a:spcPts val="600"/>
              </a:spcBef>
              <a:spcAft>
                <a:spcPts val="1608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It handles error recognition and recovery for end-to-end communications	</a:t>
            </a:r>
          </a:p>
          <a:p>
            <a:pPr marL="342900" indent="-342900" algn="l" defTabSz="1200150">
              <a:spcBef>
                <a:spcPts val="600"/>
              </a:spcBef>
              <a:spcAft>
                <a:spcPts val="1608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It repackages long messages, when necessary, into small parts for transmission </a:t>
            </a:r>
          </a:p>
          <a:p>
            <a:pPr marL="342900" indent="-342900" algn="l" defTabSz="1200150">
              <a:spcBef>
                <a:spcPts val="600"/>
              </a:spcBef>
              <a:spcAft>
                <a:spcPts val="1608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It assembles these parts into the original message at the receiving end </a:t>
            </a:r>
          </a:p>
          <a:p>
            <a:pPr marL="342900" indent="-342900" algn="l" defTabSz="1200150">
              <a:spcBef>
                <a:spcPts val="600"/>
              </a:spcBef>
              <a:spcAft>
                <a:spcPts val="1608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It confirms the receipt of the data through acknowledgments </a:t>
            </a:r>
          </a:p>
          <a:p>
            <a:pPr algn="l"/>
            <a:endParaRPr lang="en-GB" dirty="0">
              <a:solidFill>
                <a:schemeClr val="tx1">
                  <a:lumMod val="95000"/>
                  <a:lumOff val="5000"/>
                </a:schemeClr>
              </a:solidFill>
              <a:latin typeface="Montserrat" panose="00000500000000000000" pitchFamily="50" charset="0"/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49E95AF4-A6BC-7AA2-AEA3-7FA16A0D48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7734" y="2341831"/>
            <a:ext cx="4329503" cy="2435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11">
            <a:extLst>
              <a:ext uri="{FF2B5EF4-FFF2-40B4-BE49-F238E27FC236}">
                <a16:creationId xmlns:a16="http://schemas.microsoft.com/office/drawing/2014/main" id="{8C8BB169-3060-47E1-88D0-AF36909A44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5713" y="6391268"/>
            <a:ext cx="45614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CSC1010: Networks &amp; Internet  </a:t>
            </a:r>
            <a:r>
              <a:rPr lang="ar-MA" altLang="en-IE" sz="1200" dirty="0">
                <a:solidFill>
                  <a:srgbClr val="294BF9"/>
                </a:solidFill>
                <a:latin typeface="Montserrat" pitchFamily="2" charset="77"/>
              </a:rPr>
              <a:t>  </a:t>
            </a: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 | </a:t>
            </a:r>
            <a:r>
              <a:rPr lang="ar-MA" altLang="en-IE" sz="1200" dirty="0">
                <a:solidFill>
                  <a:srgbClr val="294BF9"/>
                </a:solidFill>
                <a:latin typeface="Montserrat" pitchFamily="2" charset="77"/>
              </a:rPr>
              <a:t>  </a:t>
            </a: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  Network models</a:t>
            </a:r>
            <a:endParaRPr lang="fr-FR" altLang="en-IE" sz="1200" dirty="0">
              <a:solidFill>
                <a:srgbClr val="294BF9"/>
              </a:solidFill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5785057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65285-BAA1-D689-CF18-8FEB37A63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58E43-14E6-6129-F8C7-8CB9C34C70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8025" y="298450"/>
            <a:ext cx="6897688" cy="687388"/>
          </a:xfrm>
        </p:spPr>
        <p:txBody>
          <a:bodyPr rtlCol="0">
            <a:normAutofit/>
          </a:bodyPr>
          <a:lstStyle/>
          <a:p>
            <a:pPr algn="l" eaLnBrk="1" fontAlgn="auto" hangingPunct="1">
              <a:lnSpc>
                <a:spcPct val="60000"/>
              </a:lnSpc>
              <a:spcAft>
                <a:spcPts val="0"/>
              </a:spcAft>
              <a:defRPr/>
            </a:pPr>
            <a:r>
              <a:rPr lang="en-IE" sz="2400" b="1" spc="-150" dirty="0">
                <a:solidFill>
                  <a:srgbClr val="294BF9"/>
                </a:solidFill>
                <a:latin typeface="Montserrat Medium" panose="00000600000000000000" pitchFamily="50" charset="0"/>
              </a:rPr>
              <a:t>Network layer</a:t>
            </a:r>
          </a:p>
        </p:txBody>
      </p:sp>
      <p:sp>
        <p:nvSpPr>
          <p:cNvPr id="15364" name="TextBox 28">
            <a:extLst>
              <a:ext uri="{FF2B5EF4-FFF2-40B4-BE49-F238E27FC236}">
                <a16:creationId xmlns:a16="http://schemas.microsoft.com/office/drawing/2014/main" id="{3C5F90C0-8621-5CB4-E73E-12FE133F2E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6200775"/>
            <a:ext cx="6286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fr-FR" altLang="en-IE" sz="2000" dirty="0">
                <a:solidFill>
                  <a:srgbClr val="294BF9"/>
                </a:solidFill>
                <a:latin typeface="Montserrat" pitchFamily="2" charset="77"/>
              </a:rPr>
              <a:t>11</a:t>
            </a:r>
          </a:p>
        </p:txBody>
      </p: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B558390D-DE88-857F-F7F4-B1CD9227B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908" y="148020"/>
            <a:ext cx="1017866" cy="1108384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984EF124-2C92-CAE9-B942-582226DF8D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125" y="2401686"/>
            <a:ext cx="6505940" cy="2573734"/>
          </a:xfrm>
        </p:spPr>
        <p:txBody>
          <a:bodyPr>
            <a:noAutofit/>
          </a:bodyPr>
          <a:lstStyle/>
          <a:p>
            <a:pPr marL="342900" lvl="0" indent="-342900" algn="l" defTabSz="1200150">
              <a:lnSpc>
                <a:spcPct val="90000"/>
              </a:lnSpc>
              <a:spcBef>
                <a:spcPts val="600"/>
              </a:spcBef>
              <a:spcAft>
                <a:spcPts val="2208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It determines the route from the source to the destination</a:t>
            </a:r>
          </a:p>
          <a:p>
            <a:pPr marL="342900" lvl="0" indent="-342900" algn="l" defTabSz="1200150">
              <a:lnSpc>
                <a:spcPct val="90000"/>
              </a:lnSpc>
              <a:spcBef>
                <a:spcPts val="600"/>
              </a:spcBef>
              <a:spcAft>
                <a:spcPts val="2208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It manages traffic problems, such as switching, routing, and controlling the congestion of data packets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70262DAC-8122-EFE4-6E35-F6D18D0B86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2141" y="2401686"/>
            <a:ext cx="4204151" cy="2364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11">
            <a:extLst>
              <a:ext uri="{FF2B5EF4-FFF2-40B4-BE49-F238E27FC236}">
                <a16:creationId xmlns:a16="http://schemas.microsoft.com/office/drawing/2014/main" id="{76046060-7499-CD48-5E26-AC6341A0B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5713" y="6391268"/>
            <a:ext cx="45614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CSC1010: Networks &amp; Internet  </a:t>
            </a:r>
            <a:r>
              <a:rPr lang="ar-MA" altLang="en-IE" sz="1200" dirty="0">
                <a:solidFill>
                  <a:srgbClr val="294BF9"/>
                </a:solidFill>
                <a:latin typeface="Montserrat" pitchFamily="2" charset="77"/>
              </a:rPr>
              <a:t>  </a:t>
            </a: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 | </a:t>
            </a:r>
            <a:r>
              <a:rPr lang="ar-MA" altLang="en-IE" sz="1200" dirty="0">
                <a:solidFill>
                  <a:srgbClr val="294BF9"/>
                </a:solidFill>
                <a:latin typeface="Montserrat" pitchFamily="2" charset="77"/>
              </a:rPr>
              <a:t>  </a:t>
            </a: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  Network models</a:t>
            </a:r>
            <a:endParaRPr lang="fr-FR" altLang="en-IE" sz="1200" dirty="0">
              <a:solidFill>
                <a:srgbClr val="294BF9"/>
              </a:solidFill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8196682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ECC73-03DA-A414-4DB8-688175ABE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93BA4-47A2-C869-C730-1523A2EE97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8025" y="298450"/>
            <a:ext cx="6897688" cy="687388"/>
          </a:xfrm>
        </p:spPr>
        <p:txBody>
          <a:bodyPr rtlCol="0">
            <a:normAutofit/>
          </a:bodyPr>
          <a:lstStyle/>
          <a:p>
            <a:pPr algn="l" eaLnBrk="1" fontAlgn="auto" hangingPunct="1">
              <a:lnSpc>
                <a:spcPct val="60000"/>
              </a:lnSpc>
              <a:spcAft>
                <a:spcPts val="0"/>
              </a:spcAft>
              <a:defRPr/>
            </a:pPr>
            <a:r>
              <a:rPr lang="en-IE" sz="2400" b="1" spc="-150" dirty="0">
                <a:solidFill>
                  <a:srgbClr val="294BF9"/>
                </a:solidFill>
                <a:latin typeface="Montserrat Medium" panose="00000600000000000000" pitchFamily="50" charset="0"/>
              </a:rPr>
              <a:t>Data link layer</a:t>
            </a:r>
          </a:p>
        </p:txBody>
      </p:sp>
      <p:sp>
        <p:nvSpPr>
          <p:cNvPr id="15364" name="TextBox 28">
            <a:extLst>
              <a:ext uri="{FF2B5EF4-FFF2-40B4-BE49-F238E27FC236}">
                <a16:creationId xmlns:a16="http://schemas.microsoft.com/office/drawing/2014/main" id="{080B5467-E537-090C-A251-57962CA38C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6200775"/>
            <a:ext cx="6286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fr-FR" altLang="en-IE" sz="2000" dirty="0">
                <a:solidFill>
                  <a:srgbClr val="294BF9"/>
                </a:solidFill>
                <a:latin typeface="Montserrat" pitchFamily="2" charset="77"/>
              </a:rPr>
              <a:t>12</a:t>
            </a:r>
          </a:p>
        </p:txBody>
      </p: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EEB03476-2157-8DAB-C035-532429FB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908" y="148020"/>
            <a:ext cx="1017866" cy="1108384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90657D85-3F5C-537E-475A-8F1562DFEB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125" y="1887255"/>
            <a:ext cx="6590023" cy="3412103"/>
          </a:xfrm>
        </p:spPr>
        <p:txBody>
          <a:bodyPr>
            <a:noAutofit/>
          </a:bodyPr>
          <a:lstStyle/>
          <a:p>
            <a:pPr marL="342900" indent="-342900" algn="l" defTabSz="1200150">
              <a:spcBef>
                <a:spcPts val="600"/>
              </a:spcBef>
              <a:spcAft>
                <a:spcPts val="2208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It packages data from the Network Layer into frames </a:t>
            </a:r>
          </a:p>
          <a:p>
            <a:pPr marL="342900" lvl="0" indent="-342900" algn="l" defTabSz="1200150">
              <a:lnSpc>
                <a:spcPct val="90000"/>
              </a:lnSpc>
              <a:spcBef>
                <a:spcPts val="600"/>
              </a:spcBef>
              <a:spcAft>
                <a:spcPts val="2208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It transfers frames from one device to another without errors</a:t>
            </a:r>
          </a:p>
          <a:p>
            <a:pPr marL="342900" lvl="0" indent="-342900" algn="l" defTabSz="1200150">
              <a:lnSpc>
                <a:spcPct val="90000"/>
              </a:lnSpc>
              <a:spcBef>
                <a:spcPts val="600"/>
              </a:spcBef>
              <a:spcAft>
                <a:spcPts val="2208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It waits for an acknowledgment, after sending a frame, from the receiving device</a:t>
            </a: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8FA8E9B2-54F3-4CB3-073B-A2CB900ADF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4289" y="2199528"/>
            <a:ext cx="4406132" cy="2458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1">
            <a:extLst>
              <a:ext uri="{FF2B5EF4-FFF2-40B4-BE49-F238E27FC236}">
                <a16:creationId xmlns:a16="http://schemas.microsoft.com/office/drawing/2014/main" id="{DEF465BC-884D-DF9B-C5BB-019E958D2E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5713" y="6391268"/>
            <a:ext cx="45614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CSC1010: Networks &amp; Internet  </a:t>
            </a:r>
            <a:r>
              <a:rPr lang="ar-MA" altLang="en-IE" sz="1200" dirty="0">
                <a:solidFill>
                  <a:srgbClr val="294BF9"/>
                </a:solidFill>
                <a:latin typeface="Montserrat" pitchFamily="2" charset="77"/>
              </a:rPr>
              <a:t>  </a:t>
            </a: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 | </a:t>
            </a:r>
            <a:r>
              <a:rPr lang="ar-MA" altLang="en-IE" sz="1200" dirty="0">
                <a:solidFill>
                  <a:srgbClr val="294BF9"/>
                </a:solidFill>
                <a:latin typeface="Montserrat" pitchFamily="2" charset="77"/>
              </a:rPr>
              <a:t>  </a:t>
            </a: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  Network models</a:t>
            </a:r>
            <a:endParaRPr lang="fr-FR" altLang="en-IE" sz="1200" dirty="0">
              <a:solidFill>
                <a:srgbClr val="294BF9"/>
              </a:solidFill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778662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52924-AC8D-F377-1BB6-DE05EE2C5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D34AC-2740-45AE-8C1B-84D996415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8025" y="298450"/>
            <a:ext cx="6897688" cy="687388"/>
          </a:xfrm>
        </p:spPr>
        <p:txBody>
          <a:bodyPr rtlCol="0">
            <a:normAutofit/>
          </a:bodyPr>
          <a:lstStyle/>
          <a:p>
            <a:pPr algn="l" eaLnBrk="1" fontAlgn="auto" hangingPunct="1">
              <a:lnSpc>
                <a:spcPct val="60000"/>
              </a:lnSpc>
              <a:spcAft>
                <a:spcPts val="0"/>
              </a:spcAft>
              <a:defRPr/>
            </a:pPr>
            <a:r>
              <a:rPr lang="en-IE" sz="2400" b="1" spc="-150" dirty="0">
                <a:solidFill>
                  <a:srgbClr val="294BF9"/>
                </a:solidFill>
                <a:latin typeface="Montserrat Medium" panose="00000600000000000000" pitchFamily="50" charset="0"/>
              </a:rPr>
              <a:t>Physical layer</a:t>
            </a:r>
          </a:p>
        </p:txBody>
      </p:sp>
      <p:sp>
        <p:nvSpPr>
          <p:cNvPr id="15364" name="TextBox 28">
            <a:extLst>
              <a:ext uri="{FF2B5EF4-FFF2-40B4-BE49-F238E27FC236}">
                <a16:creationId xmlns:a16="http://schemas.microsoft.com/office/drawing/2014/main" id="{F0F44CE9-E7D7-7DA8-E742-B6B9930CD9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6200775"/>
            <a:ext cx="6286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fr-FR" altLang="en-IE" sz="2000" dirty="0">
                <a:solidFill>
                  <a:srgbClr val="294BF9"/>
                </a:solidFill>
                <a:latin typeface="Montserrat" pitchFamily="2" charset="77"/>
              </a:rPr>
              <a:t>13</a:t>
            </a:r>
          </a:p>
        </p:txBody>
      </p: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AA242D25-E3E8-3C2B-F955-1A2B3704E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908" y="148020"/>
            <a:ext cx="1017866" cy="1108384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59FC27B9-4D02-22F0-ECA0-CCC46B583B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129" y="1990214"/>
            <a:ext cx="5902982" cy="2877572"/>
          </a:xfrm>
        </p:spPr>
        <p:txBody>
          <a:bodyPr>
            <a:noAutofit/>
          </a:bodyPr>
          <a:lstStyle/>
          <a:p>
            <a:pPr marL="342900" lvl="0" indent="-342900" algn="l" defTabSz="1200150">
              <a:spcBef>
                <a:spcPts val="600"/>
              </a:spcBef>
              <a:spcAft>
                <a:spcPts val="2208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It transmits bits (0s and 1s) from one device to another </a:t>
            </a:r>
          </a:p>
          <a:p>
            <a:pPr marL="342900" lvl="0" indent="-342900" algn="l" defTabSz="1200150">
              <a:spcBef>
                <a:spcPts val="600"/>
              </a:spcBef>
              <a:spcAft>
                <a:spcPts val="2208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It defines how the cable is attached to the network adapter </a:t>
            </a:r>
          </a:p>
          <a:p>
            <a:pPr marL="342900" lvl="0" indent="-342900" algn="l" defTabSz="1200150">
              <a:spcBef>
                <a:spcPts val="600"/>
              </a:spcBef>
              <a:spcAft>
                <a:spcPts val="2208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It specifies what transmission technique is used to send data over the cable</a:t>
            </a:r>
          </a:p>
          <a:p>
            <a:pPr algn="l"/>
            <a:endParaRPr lang="en-GB" dirty="0">
              <a:solidFill>
                <a:schemeClr val="tx1">
                  <a:lumMod val="95000"/>
                  <a:lumOff val="5000"/>
                </a:schemeClr>
              </a:solidFill>
              <a:latin typeface="Montserrat" panose="00000500000000000000" pitchFamily="50" charset="0"/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5B17D02F-BBBC-DE5D-5C2A-99FA82A46A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8062" y="2130758"/>
            <a:ext cx="4855057" cy="2737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11">
            <a:extLst>
              <a:ext uri="{FF2B5EF4-FFF2-40B4-BE49-F238E27FC236}">
                <a16:creationId xmlns:a16="http://schemas.microsoft.com/office/drawing/2014/main" id="{58670E16-CF8A-8A86-B668-56150B8710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5713" y="6391268"/>
            <a:ext cx="45614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CSC1010: Networks &amp; Internet  </a:t>
            </a:r>
            <a:r>
              <a:rPr lang="ar-MA" altLang="en-IE" sz="1200" dirty="0">
                <a:solidFill>
                  <a:srgbClr val="294BF9"/>
                </a:solidFill>
                <a:latin typeface="Montserrat" pitchFamily="2" charset="77"/>
              </a:rPr>
              <a:t>  </a:t>
            </a: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 | </a:t>
            </a:r>
            <a:r>
              <a:rPr lang="ar-MA" altLang="en-IE" sz="1200" dirty="0">
                <a:solidFill>
                  <a:srgbClr val="294BF9"/>
                </a:solidFill>
                <a:latin typeface="Montserrat" pitchFamily="2" charset="77"/>
              </a:rPr>
              <a:t>  </a:t>
            </a: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  Network models</a:t>
            </a:r>
            <a:endParaRPr lang="fr-FR" altLang="en-IE" sz="1200" dirty="0">
              <a:solidFill>
                <a:srgbClr val="294BF9"/>
              </a:solidFill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7371846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FB5AE-1C6B-2F54-67C7-CC989179B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3DBD2-5F03-6CEE-5CA0-FF5D5708B6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8025" y="298450"/>
            <a:ext cx="6897688" cy="687388"/>
          </a:xfrm>
        </p:spPr>
        <p:txBody>
          <a:bodyPr rtlCol="0">
            <a:normAutofit/>
          </a:bodyPr>
          <a:lstStyle/>
          <a:p>
            <a:pPr algn="l" eaLnBrk="1" fontAlgn="auto" hangingPunct="1">
              <a:lnSpc>
                <a:spcPct val="60000"/>
              </a:lnSpc>
              <a:spcAft>
                <a:spcPts val="0"/>
              </a:spcAft>
              <a:defRPr/>
            </a:pPr>
            <a:r>
              <a:rPr lang="en-IE" sz="2400" b="1" spc="-150" dirty="0">
                <a:solidFill>
                  <a:srgbClr val="294BF9"/>
                </a:solidFill>
                <a:latin typeface="Montserrat Medium" panose="00000600000000000000" pitchFamily="50" charset="0"/>
              </a:rPr>
              <a:t>Data encapsulation/de-encapsulation</a:t>
            </a:r>
          </a:p>
        </p:txBody>
      </p:sp>
      <p:sp>
        <p:nvSpPr>
          <p:cNvPr id="15364" name="TextBox 28">
            <a:extLst>
              <a:ext uri="{FF2B5EF4-FFF2-40B4-BE49-F238E27FC236}">
                <a16:creationId xmlns:a16="http://schemas.microsoft.com/office/drawing/2014/main" id="{F8EAA6C6-655D-D983-C10F-FBB529569D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6200775"/>
            <a:ext cx="6286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fr-FR" altLang="en-IE" sz="2000" dirty="0">
                <a:solidFill>
                  <a:srgbClr val="294BF9"/>
                </a:solidFill>
                <a:latin typeface="Montserrat" pitchFamily="2" charset="77"/>
              </a:rPr>
              <a:t>14</a:t>
            </a:r>
          </a:p>
        </p:txBody>
      </p: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B8CCF6FE-5038-935F-4233-0EC593B81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908" y="148020"/>
            <a:ext cx="1017866" cy="1108384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FFC210DB-B672-2B85-92AB-6B37959CA5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8025" y="1205457"/>
            <a:ext cx="5310020" cy="4177444"/>
          </a:xfrm>
        </p:spPr>
        <p:txBody>
          <a:bodyPr>
            <a:noAutofit/>
          </a:bodyPr>
          <a:lstStyle/>
          <a:p>
            <a:pPr marL="342900" lvl="0" indent="-342900" algn="l" defTabSz="1200150">
              <a:spcBef>
                <a:spcPts val="600"/>
              </a:spcBef>
              <a:spcAft>
                <a:spcPts val="224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Each layer adds control information (header) to the user data and pass it to the layer below it</a:t>
            </a:r>
          </a:p>
          <a:p>
            <a:pPr marL="342900" lvl="0" indent="-342900" algn="l" defTabSz="1200150">
              <a:spcBef>
                <a:spcPts val="600"/>
              </a:spcBef>
              <a:spcAft>
                <a:spcPts val="224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The data link layer adds a header and a trailer </a:t>
            </a:r>
          </a:p>
          <a:p>
            <a:pPr marL="800100" lvl="1" indent="-342900" algn="l" defTabSz="1200150">
              <a:spcBef>
                <a:spcPts val="600"/>
              </a:spcBef>
              <a:spcAft>
                <a:spcPts val="224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Trailers are added at the end of the user data to check for errors</a:t>
            </a:r>
          </a:p>
          <a:p>
            <a:pPr marL="342900" lvl="0" indent="-342900" algn="l" defTabSz="1200150">
              <a:spcBef>
                <a:spcPts val="600"/>
              </a:spcBef>
              <a:spcAft>
                <a:spcPts val="224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At the destination, each layer will remove the header added by the corresponding layer at the source and pass it to the layer above it </a:t>
            </a:r>
          </a:p>
          <a:p>
            <a:pPr algn="l"/>
            <a:endParaRPr lang="en-GB" sz="2200" dirty="0">
              <a:solidFill>
                <a:schemeClr val="tx1">
                  <a:lumMod val="95000"/>
                  <a:lumOff val="5000"/>
                </a:schemeClr>
              </a:solidFill>
              <a:latin typeface="Montserrat" panose="00000500000000000000" pitchFamily="50" charset="0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B7EF6E8B-A3AC-8118-B760-4A60D0D04B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5713" y="6391268"/>
            <a:ext cx="45614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CSC1010: Networks &amp; Internet  </a:t>
            </a:r>
            <a:r>
              <a:rPr lang="ar-MA" altLang="en-IE" sz="1200" dirty="0">
                <a:solidFill>
                  <a:srgbClr val="294BF9"/>
                </a:solidFill>
                <a:latin typeface="Montserrat" pitchFamily="2" charset="77"/>
              </a:rPr>
              <a:t>  </a:t>
            </a: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 | </a:t>
            </a:r>
            <a:r>
              <a:rPr lang="ar-MA" altLang="en-IE" sz="1200" dirty="0">
                <a:solidFill>
                  <a:srgbClr val="294BF9"/>
                </a:solidFill>
                <a:latin typeface="Montserrat" pitchFamily="2" charset="77"/>
              </a:rPr>
              <a:t>  </a:t>
            </a: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  Network models</a:t>
            </a:r>
            <a:endParaRPr lang="fr-FR" altLang="en-IE" sz="1200" dirty="0">
              <a:solidFill>
                <a:srgbClr val="294BF9"/>
              </a:solidFill>
              <a:latin typeface="Montserrat" pitchFamily="2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1B98CF-363B-0CB4-FB0E-A61A5BB222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8045" y="2186774"/>
            <a:ext cx="5912823" cy="3196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1835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3BDC7-D5C5-9DBE-CDA1-6322F694B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3D514-FE78-FC7D-6DB3-B5C5FB607B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8025" y="298450"/>
            <a:ext cx="6897688" cy="687388"/>
          </a:xfrm>
        </p:spPr>
        <p:txBody>
          <a:bodyPr rtlCol="0">
            <a:normAutofit/>
          </a:bodyPr>
          <a:lstStyle/>
          <a:p>
            <a:pPr algn="l" eaLnBrk="1" fontAlgn="auto" hangingPunct="1">
              <a:lnSpc>
                <a:spcPct val="60000"/>
              </a:lnSpc>
              <a:spcAft>
                <a:spcPts val="0"/>
              </a:spcAft>
              <a:defRPr/>
            </a:pPr>
            <a:r>
              <a:rPr lang="en-IE" sz="2400" b="1" spc="-150" dirty="0">
                <a:solidFill>
                  <a:srgbClr val="294BF9"/>
                </a:solidFill>
                <a:latin typeface="Montserrat Medium" panose="00000600000000000000" pitchFamily="50" charset="0"/>
              </a:rPr>
              <a:t>TCP/IP model</a:t>
            </a:r>
          </a:p>
        </p:txBody>
      </p:sp>
      <p:sp>
        <p:nvSpPr>
          <p:cNvPr id="15364" name="TextBox 28">
            <a:extLst>
              <a:ext uri="{FF2B5EF4-FFF2-40B4-BE49-F238E27FC236}">
                <a16:creationId xmlns:a16="http://schemas.microsoft.com/office/drawing/2014/main" id="{5BE2999B-F932-3247-7A15-2067BCB99F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6200775"/>
            <a:ext cx="6286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fr-FR" altLang="en-IE" sz="2000" dirty="0">
                <a:solidFill>
                  <a:srgbClr val="294BF9"/>
                </a:solidFill>
                <a:latin typeface="Montserrat" pitchFamily="2" charset="77"/>
              </a:rPr>
              <a:t>15</a:t>
            </a:r>
          </a:p>
        </p:txBody>
      </p: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1B8BD234-03FA-F602-F468-BBE8D7F4A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908" y="148020"/>
            <a:ext cx="1017866" cy="1108384"/>
          </a:xfrm>
          <a:prstGeom prst="rect">
            <a:avLst/>
          </a:prstGeom>
        </p:spPr>
      </p:pic>
      <p:sp>
        <p:nvSpPr>
          <p:cNvPr id="10" name="TextBox 11">
            <a:extLst>
              <a:ext uri="{FF2B5EF4-FFF2-40B4-BE49-F238E27FC236}">
                <a16:creationId xmlns:a16="http://schemas.microsoft.com/office/drawing/2014/main" id="{B7EE8FCE-F1F4-224F-1ECF-9F10D4C0A5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5713" y="6391268"/>
            <a:ext cx="45614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CSC1010: Networks &amp; Internet  </a:t>
            </a:r>
            <a:r>
              <a:rPr lang="ar-MA" altLang="en-IE" sz="1200" dirty="0">
                <a:solidFill>
                  <a:srgbClr val="294BF9"/>
                </a:solidFill>
                <a:latin typeface="Montserrat" pitchFamily="2" charset="77"/>
              </a:rPr>
              <a:t>  </a:t>
            </a: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 | </a:t>
            </a:r>
            <a:r>
              <a:rPr lang="ar-MA" altLang="en-IE" sz="1200" dirty="0">
                <a:solidFill>
                  <a:srgbClr val="294BF9"/>
                </a:solidFill>
                <a:latin typeface="Montserrat" pitchFamily="2" charset="77"/>
              </a:rPr>
              <a:t>  </a:t>
            </a: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  Network models</a:t>
            </a:r>
            <a:endParaRPr lang="fr-FR" altLang="en-IE" sz="1200" dirty="0">
              <a:solidFill>
                <a:srgbClr val="294BF9"/>
              </a:solidFill>
              <a:latin typeface="Montserrat" pitchFamily="2" charset="77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9F2723B-89BE-1AB9-8BA3-44520F2986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8025" y="1237152"/>
            <a:ext cx="6433915" cy="4963623"/>
          </a:xfrm>
        </p:spPr>
        <p:txBody>
          <a:bodyPr>
            <a:noAutofit/>
          </a:bodyPr>
          <a:lstStyle/>
          <a:p>
            <a:pPr marL="114300" indent="-342900" algn="l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E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The practical version of the OSI model</a:t>
            </a:r>
          </a:p>
          <a:p>
            <a:pPr marL="114300" indent="-342900" algn="l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E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It is the main communication infrastructure supporting the Internet</a:t>
            </a:r>
          </a:p>
          <a:p>
            <a:pPr marL="114300" indent="-342900" algn="l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E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It has 4 layers </a:t>
            </a:r>
          </a:p>
          <a:p>
            <a:pPr marL="571500" lvl="1" indent="-342900" algn="l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E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Few layers in TCP/IP model can provide the services of multiple layers of the OSI model</a:t>
            </a:r>
          </a:p>
          <a:p>
            <a:pPr marL="114300" indent="-342900" algn="l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E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The name is derived from 2 main protocols: TCP and IP</a:t>
            </a:r>
          </a:p>
        </p:txBody>
      </p:sp>
      <p:pic>
        <p:nvPicPr>
          <p:cNvPr id="7" name="Picture 2" descr="TCP/IP: What Is the TCP/IP Model &amp; How Does It Work? | AVG">
            <a:extLst>
              <a:ext uri="{FF2B5EF4-FFF2-40B4-BE49-F238E27FC236}">
                <a16:creationId xmlns:a16="http://schemas.microsoft.com/office/drawing/2014/main" id="{2CF1B59C-34EB-E94F-C859-6316C203C2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1940" y="2538101"/>
            <a:ext cx="4682236" cy="2128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52291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31538-8319-56FA-ECEC-5922E8D1B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03C6B-DECC-B5FA-879A-CAC50BFE68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8025" y="298450"/>
            <a:ext cx="6897688" cy="687388"/>
          </a:xfrm>
        </p:spPr>
        <p:txBody>
          <a:bodyPr rtlCol="0">
            <a:normAutofit/>
          </a:bodyPr>
          <a:lstStyle/>
          <a:p>
            <a:pPr algn="l" eaLnBrk="1" fontAlgn="auto" hangingPunct="1">
              <a:lnSpc>
                <a:spcPct val="60000"/>
              </a:lnSpc>
              <a:spcAft>
                <a:spcPts val="0"/>
              </a:spcAft>
              <a:defRPr/>
            </a:pPr>
            <a:r>
              <a:rPr lang="en-IE" sz="2400" b="1" spc="-150" dirty="0">
                <a:solidFill>
                  <a:srgbClr val="294BF9"/>
                </a:solidFill>
                <a:latin typeface="Montserrat Medium" panose="00000600000000000000" pitchFamily="50" charset="0"/>
              </a:rPr>
              <a:t>OSI vs. TCP/IP</a:t>
            </a:r>
          </a:p>
        </p:txBody>
      </p:sp>
      <p:sp>
        <p:nvSpPr>
          <p:cNvPr id="15364" name="TextBox 28">
            <a:extLst>
              <a:ext uri="{FF2B5EF4-FFF2-40B4-BE49-F238E27FC236}">
                <a16:creationId xmlns:a16="http://schemas.microsoft.com/office/drawing/2014/main" id="{F1D1698E-0E22-63FE-7972-D761E3FA7B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6200775"/>
            <a:ext cx="6286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fr-FR" altLang="en-IE" sz="2000" dirty="0">
                <a:solidFill>
                  <a:srgbClr val="294BF9"/>
                </a:solidFill>
                <a:latin typeface="Montserrat" pitchFamily="2" charset="77"/>
              </a:rPr>
              <a:t>16</a:t>
            </a:r>
          </a:p>
        </p:txBody>
      </p: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5443C5AE-9AF5-25AA-4347-F8FE4EC703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908" y="148020"/>
            <a:ext cx="1017866" cy="1108384"/>
          </a:xfrm>
          <a:prstGeom prst="rect">
            <a:avLst/>
          </a:prstGeom>
        </p:spPr>
      </p:pic>
      <p:sp>
        <p:nvSpPr>
          <p:cNvPr id="10" name="TextBox 11">
            <a:extLst>
              <a:ext uri="{FF2B5EF4-FFF2-40B4-BE49-F238E27FC236}">
                <a16:creationId xmlns:a16="http://schemas.microsoft.com/office/drawing/2014/main" id="{F7074435-ED0D-365D-E651-15939116B8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5713" y="6391268"/>
            <a:ext cx="45614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CSC1010: Networks &amp; Internet  </a:t>
            </a:r>
            <a:r>
              <a:rPr lang="ar-MA" altLang="en-IE" sz="1200" dirty="0">
                <a:solidFill>
                  <a:srgbClr val="294BF9"/>
                </a:solidFill>
                <a:latin typeface="Montserrat" pitchFamily="2" charset="77"/>
              </a:rPr>
              <a:t>  </a:t>
            </a: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 | </a:t>
            </a:r>
            <a:r>
              <a:rPr lang="ar-MA" altLang="en-IE" sz="1200" dirty="0">
                <a:solidFill>
                  <a:srgbClr val="294BF9"/>
                </a:solidFill>
                <a:latin typeface="Montserrat" pitchFamily="2" charset="77"/>
              </a:rPr>
              <a:t>  </a:t>
            </a: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  Network models</a:t>
            </a:r>
            <a:endParaRPr lang="fr-FR" altLang="en-IE" sz="1200" dirty="0">
              <a:solidFill>
                <a:srgbClr val="294BF9"/>
              </a:solidFill>
              <a:latin typeface="Montserrat" pitchFamily="2" charset="7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472DDA-A54E-4EC5-9D1E-61BAEF17AA4F}"/>
              </a:ext>
            </a:extLst>
          </p:cNvPr>
          <p:cNvSpPr txBox="1"/>
          <p:nvPr/>
        </p:nvSpPr>
        <p:spPr>
          <a:xfrm>
            <a:off x="3013275" y="1445552"/>
            <a:ext cx="23270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sz="2800" dirty="0">
                <a:latin typeface="Montserrat" panose="00000500000000000000" pitchFamily="2" charset="0"/>
              </a:rPr>
              <a:t>OSI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B53B19-5366-0045-145D-67DF3522E164}"/>
              </a:ext>
            </a:extLst>
          </p:cNvPr>
          <p:cNvSpPr/>
          <p:nvPr/>
        </p:nvSpPr>
        <p:spPr>
          <a:xfrm>
            <a:off x="2699738" y="1951201"/>
            <a:ext cx="2753710" cy="4609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800" dirty="0">
                <a:latin typeface="Montserrat" panose="00000500000000000000" pitchFamily="2" charset="0"/>
              </a:rPr>
              <a:t>Application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71A79E6-E4E4-9552-B339-88B5A13E4103}"/>
              </a:ext>
            </a:extLst>
          </p:cNvPr>
          <p:cNvSpPr/>
          <p:nvPr/>
        </p:nvSpPr>
        <p:spPr>
          <a:xfrm>
            <a:off x="2699738" y="2499209"/>
            <a:ext cx="2753710" cy="4609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800" dirty="0">
                <a:latin typeface="Montserrat" panose="00000500000000000000" pitchFamily="2" charset="0"/>
              </a:rPr>
              <a:t>Presentation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25F295D-5D4C-1917-2C21-D2EC4F1ECBBA}"/>
              </a:ext>
            </a:extLst>
          </p:cNvPr>
          <p:cNvSpPr/>
          <p:nvPr/>
        </p:nvSpPr>
        <p:spPr>
          <a:xfrm>
            <a:off x="2699738" y="3047217"/>
            <a:ext cx="2753710" cy="4609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800" dirty="0">
                <a:latin typeface="Montserrat" panose="00000500000000000000" pitchFamily="2" charset="0"/>
              </a:rPr>
              <a:t>Session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270940E-E61B-7DBE-DA29-AABD82CEE277}"/>
              </a:ext>
            </a:extLst>
          </p:cNvPr>
          <p:cNvSpPr/>
          <p:nvPr/>
        </p:nvSpPr>
        <p:spPr>
          <a:xfrm>
            <a:off x="2699738" y="3595225"/>
            <a:ext cx="2753710" cy="4609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800" dirty="0">
                <a:latin typeface="Montserrat" panose="00000500000000000000" pitchFamily="2" charset="0"/>
              </a:rPr>
              <a:t>Transport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C7B6A1-31FF-779C-1C08-81A01EDCE59B}"/>
              </a:ext>
            </a:extLst>
          </p:cNvPr>
          <p:cNvSpPr/>
          <p:nvPr/>
        </p:nvSpPr>
        <p:spPr>
          <a:xfrm>
            <a:off x="2699738" y="4143233"/>
            <a:ext cx="2753710" cy="4609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800" dirty="0">
                <a:latin typeface="Montserrat" panose="00000500000000000000" pitchFamily="2" charset="0"/>
              </a:rPr>
              <a:t>Network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D227A03-3EAA-900C-CB2D-5E1A9847764C}"/>
              </a:ext>
            </a:extLst>
          </p:cNvPr>
          <p:cNvSpPr/>
          <p:nvPr/>
        </p:nvSpPr>
        <p:spPr>
          <a:xfrm>
            <a:off x="2699738" y="4691241"/>
            <a:ext cx="2753710" cy="4609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800" dirty="0">
                <a:latin typeface="Montserrat" panose="00000500000000000000" pitchFamily="2" charset="0"/>
              </a:rPr>
              <a:t>Data Link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9D618FA-6C48-B766-AF35-E25FDEF704C2}"/>
              </a:ext>
            </a:extLst>
          </p:cNvPr>
          <p:cNvSpPr/>
          <p:nvPr/>
        </p:nvSpPr>
        <p:spPr>
          <a:xfrm>
            <a:off x="2699738" y="5239249"/>
            <a:ext cx="2753710" cy="4609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800" dirty="0">
                <a:latin typeface="Montserrat" panose="00000500000000000000" pitchFamily="2" charset="0"/>
              </a:rPr>
              <a:t>Physical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2A0DE9-F9D7-A18F-D111-41AF04C0DFB9}"/>
              </a:ext>
            </a:extLst>
          </p:cNvPr>
          <p:cNvSpPr txBox="1"/>
          <p:nvPr/>
        </p:nvSpPr>
        <p:spPr>
          <a:xfrm>
            <a:off x="6751460" y="1427981"/>
            <a:ext cx="23270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sz="2800" dirty="0">
                <a:latin typeface="Montserrat" panose="00000500000000000000" pitchFamily="2" charset="0"/>
              </a:rPr>
              <a:t>TCP/IP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51E190C-8FB8-316E-70CF-CEAB2DBC015F}"/>
              </a:ext>
            </a:extLst>
          </p:cNvPr>
          <p:cNvSpPr/>
          <p:nvPr/>
        </p:nvSpPr>
        <p:spPr>
          <a:xfrm>
            <a:off x="6431430" y="1951201"/>
            <a:ext cx="2753710" cy="155468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800" dirty="0">
                <a:latin typeface="Montserrat" panose="00000500000000000000" pitchFamily="2" charset="0"/>
              </a:rPr>
              <a:t>Application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E7FBFF0-9075-B531-B293-9ACD2CFEEA28}"/>
              </a:ext>
            </a:extLst>
          </p:cNvPr>
          <p:cNvSpPr/>
          <p:nvPr/>
        </p:nvSpPr>
        <p:spPr>
          <a:xfrm>
            <a:off x="6431429" y="4719335"/>
            <a:ext cx="2753710" cy="10398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2800" dirty="0">
              <a:latin typeface="Montserrat" panose="00000500000000000000" pitchFamily="2" charset="0"/>
            </a:endParaRPr>
          </a:p>
          <a:p>
            <a:pPr algn="ctr"/>
            <a:endParaRPr lang="en-IE" sz="2800" dirty="0">
              <a:latin typeface="Montserrat" panose="00000500000000000000" pitchFamily="2" charset="0"/>
            </a:endParaRPr>
          </a:p>
          <a:p>
            <a:pPr algn="ctr"/>
            <a:r>
              <a:rPr lang="en-IE" sz="2800" dirty="0">
                <a:latin typeface="Montserrat" panose="00000500000000000000" pitchFamily="2" charset="0"/>
              </a:rPr>
              <a:t>Network </a:t>
            </a:r>
          </a:p>
          <a:p>
            <a:pPr algn="ctr"/>
            <a:r>
              <a:rPr lang="en-IE" sz="2800" dirty="0">
                <a:latin typeface="Montserrat" panose="00000500000000000000" pitchFamily="2" charset="0"/>
              </a:rPr>
              <a:t>Access</a:t>
            </a:r>
          </a:p>
          <a:p>
            <a:pPr algn="ctr"/>
            <a:endParaRPr lang="en-IE" sz="2800" dirty="0">
              <a:latin typeface="Montserrat" panose="00000500000000000000" pitchFamily="2" charset="0"/>
            </a:endParaRPr>
          </a:p>
          <a:p>
            <a:pPr algn="ctr"/>
            <a:endParaRPr lang="en-IE" sz="2800" dirty="0">
              <a:latin typeface="Montserrat" panose="00000500000000000000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7DEFDEA-7F3D-0471-9755-E13CAEC9BE04}"/>
              </a:ext>
            </a:extLst>
          </p:cNvPr>
          <p:cNvSpPr/>
          <p:nvPr/>
        </p:nvSpPr>
        <p:spPr>
          <a:xfrm>
            <a:off x="6431429" y="3592910"/>
            <a:ext cx="2753710" cy="4633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800" dirty="0">
                <a:latin typeface="Montserrat" panose="00000500000000000000" pitchFamily="2" charset="0"/>
              </a:rPr>
              <a:t>Transport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DACFF14-D874-EF3F-357C-CFB83FFF8A90}"/>
              </a:ext>
            </a:extLst>
          </p:cNvPr>
          <p:cNvSpPr/>
          <p:nvPr/>
        </p:nvSpPr>
        <p:spPr>
          <a:xfrm>
            <a:off x="6439833" y="4143233"/>
            <a:ext cx="2753710" cy="46098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800" dirty="0">
                <a:latin typeface="Montserrat" panose="00000500000000000000" pitchFamily="2" charset="0"/>
              </a:rPr>
              <a:t>Internet</a:t>
            </a:r>
          </a:p>
        </p:txBody>
      </p:sp>
    </p:spTree>
    <p:extLst>
      <p:ext uri="{BB962C8B-B14F-4D97-AF65-F5344CB8AC3E}">
        <p14:creationId xmlns:p14="http://schemas.microsoft.com/office/powerpoint/2010/main" val="4265799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5A91C-5430-FDF9-F21A-6CCBEA896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AD856-54EC-E7ED-EB67-A75A8A8EC6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8025" y="298450"/>
            <a:ext cx="6897688" cy="687388"/>
          </a:xfrm>
        </p:spPr>
        <p:txBody>
          <a:bodyPr rtlCol="0">
            <a:normAutofit/>
          </a:bodyPr>
          <a:lstStyle/>
          <a:p>
            <a:pPr algn="l" eaLnBrk="1" fontAlgn="auto" hangingPunct="1">
              <a:lnSpc>
                <a:spcPct val="60000"/>
              </a:lnSpc>
              <a:spcAft>
                <a:spcPts val="0"/>
              </a:spcAft>
              <a:defRPr/>
            </a:pPr>
            <a:r>
              <a:rPr lang="en-IE" sz="2400" b="1" spc="-150" dirty="0">
                <a:solidFill>
                  <a:srgbClr val="294BF9"/>
                </a:solidFill>
                <a:latin typeface="Montserrat Medium" panose="00000600000000000000" pitchFamily="50" charset="0"/>
              </a:rPr>
              <a:t>TCP/IP model</a:t>
            </a:r>
          </a:p>
        </p:txBody>
      </p:sp>
      <p:sp>
        <p:nvSpPr>
          <p:cNvPr id="15364" name="TextBox 28">
            <a:extLst>
              <a:ext uri="{FF2B5EF4-FFF2-40B4-BE49-F238E27FC236}">
                <a16:creationId xmlns:a16="http://schemas.microsoft.com/office/drawing/2014/main" id="{9647D98F-B331-2BA4-5713-7EF50FC5A0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6200775"/>
            <a:ext cx="6286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fr-FR" altLang="en-IE" sz="2000" dirty="0">
                <a:solidFill>
                  <a:srgbClr val="294BF9"/>
                </a:solidFill>
                <a:latin typeface="Montserrat" pitchFamily="2" charset="77"/>
              </a:rPr>
              <a:t>17</a:t>
            </a:r>
          </a:p>
        </p:txBody>
      </p: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C68C6BF4-8377-DDDB-D0D2-946943D68F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908" y="148020"/>
            <a:ext cx="1017866" cy="1108384"/>
          </a:xfrm>
          <a:prstGeom prst="rect">
            <a:avLst/>
          </a:prstGeom>
        </p:spPr>
      </p:pic>
      <p:sp>
        <p:nvSpPr>
          <p:cNvPr id="10" name="TextBox 11">
            <a:extLst>
              <a:ext uri="{FF2B5EF4-FFF2-40B4-BE49-F238E27FC236}">
                <a16:creationId xmlns:a16="http://schemas.microsoft.com/office/drawing/2014/main" id="{AAE4636D-C8B3-A14B-FC66-81C54EE1C1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5713" y="6391268"/>
            <a:ext cx="45614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CSC1010: Networks &amp; Internet  </a:t>
            </a:r>
            <a:r>
              <a:rPr lang="ar-MA" altLang="en-IE" sz="1200" dirty="0">
                <a:solidFill>
                  <a:srgbClr val="294BF9"/>
                </a:solidFill>
                <a:latin typeface="Montserrat" pitchFamily="2" charset="77"/>
              </a:rPr>
              <a:t>  </a:t>
            </a: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 | </a:t>
            </a:r>
            <a:r>
              <a:rPr lang="ar-MA" altLang="en-IE" sz="1200" dirty="0">
                <a:solidFill>
                  <a:srgbClr val="294BF9"/>
                </a:solidFill>
                <a:latin typeface="Montserrat" pitchFamily="2" charset="77"/>
              </a:rPr>
              <a:t>  </a:t>
            </a: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  Network models</a:t>
            </a:r>
            <a:endParaRPr lang="fr-FR" altLang="en-IE" sz="1200" dirty="0">
              <a:solidFill>
                <a:srgbClr val="294BF9"/>
              </a:solidFill>
              <a:latin typeface="Montserrat" pitchFamily="2" charset="77"/>
            </a:endParaRPr>
          </a:p>
        </p:txBody>
      </p:sp>
      <p:sp>
        <p:nvSpPr>
          <p:cNvPr id="15361" name="Rectangle 15360">
            <a:extLst>
              <a:ext uri="{FF2B5EF4-FFF2-40B4-BE49-F238E27FC236}">
                <a16:creationId xmlns:a16="http://schemas.microsoft.com/office/drawing/2014/main" id="{248D58F6-6223-3115-C8A4-AA4343A6FAB9}"/>
              </a:ext>
            </a:extLst>
          </p:cNvPr>
          <p:cNvSpPr/>
          <p:nvPr/>
        </p:nvSpPr>
        <p:spPr>
          <a:xfrm>
            <a:off x="1244929" y="1740561"/>
            <a:ext cx="2753710" cy="1008993"/>
          </a:xfrm>
          <a:prstGeom prst="rect">
            <a:avLst/>
          </a:prstGeom>
          <a:solidFill>
            <a:srgbClr val="0432FF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800" dirty="0">
                <a:latin typeface="Montserrat" panose="00000500000000000000" pitchFamily="2" charset="0"/>
              </a:rPr>
              <a:t>Application</a:t>
            </a:r>
          </a:p>
        </p:txBody>
      </p:sp>
      <p:sp>
        <p:nvSpPr>
          <p:cNvPr id="15362" name="Rectangle 15361">
            <a:extLst>
              <a:ext uri="{FF2B5EF4-FFF2-40B4-BE49-F238E27FC236}">
                <a16:creationId xmlns:a16="http://schemas.microsoft.com/office/drawing/2014/main" id="{C3B61E52-8755-1571-E7DE-D7B7F36424E8}"/>
              </a:ext>
            </a:extLst>
          </p:cNvPr>
          <p:cNvSpPr/>
          <p:nvPr/>
        </p:nvSpPr>
        <p:spPr>
          <a:xfrm>
            <a:off x="1244928" y="4480601"/>
            <a:ext cx="2753710" cy="1008993"/>
          </a:xfrm>
          <a:prstGeom prst="rect">
            <a:avLst/>
          </a:prstGeom>
          <a:solidFill>
            <a:srgbClr val="0432FF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800" dirty="0">
                <a:latin typeface="Montserrat" panose="00000500000000000000" pitchFamily="2" charset="0"/>
              </a:rPr>
              <a:t>Network Access</a:t>
            </a:r>
          </a:p>
        </p:txBody>
      </p:sp>
      <p:sp>
        <p:nvSpPr>
          <p:cNvPr id="15363" name="Rectangle 15362">
            <a:extLst>
              <a:ext uri="{FF2B5EF4-FFF2-40B4-BE49-F238E27FC236}">
                <a16:creationId xmlns:a16="http://schemas.microsoft.com/office/drawing/2014/main" id="{7AC36209-28F3-AB02-5C76-1D8D023538E7}"/>
              </a:ext>
            </a:extLst>
          </p:cNvPr>
          <p:cNvSpPr/>
          <p:nvPr/>
        </p:nvSpPr>
        <p:spPr>
          <a:xfrm>
            <a:off x="1244928" y="2836577"/>
            <a:ext cx="2753710" cy="1008993"/>
          </a:xfrm>
          <a:prstGeom prst="rect">
            <a:avLst/>
          </a:prstGeom>
          <a:solidFill>
            <a:srgbClr val="0432FF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800" dirty="0">
                <a:latin typeface="Montserrat" panose="00000500000000000000" pitchFamily="2" charset="0"/>
              </a:rPr>
              <a:t>Transport</a:t>
            </a:r>
          </a:p>
        </p:txBody>
      </p:sp>
      <p:sp>
        <p:nvSpPr>
          <p:cNvPr id="15366" name="Rectangle 15365">
            <a:extLst>
              <a:ext uri="{FF2B5EF4-FFF2-40B4-BE49-F238E27FC236}">
                <a16:creationId xmlns:a16="http://schemas.microsoft.com/office/drawing/2014/main" id="{67EE112B-015B-3A14-D3EA-897CABD9F125}"/>
              </a:ext>
            </a:extLst>
          </p:cNvPr>
          <p:cNvSpPr/>
          <p:nvPr/>
        </p:nvSpPr>
        <p:spPr>
          <a:xfrm>
            <a:off x="1244928" y="3932593"/>
            <a:ext cx="2753710" cy="460985"/>
          </a:xfrm>
          <a:prstGeom prst="rect">
            <a:avLst/>
          </a:prstGeom>
          <a:solidFill>
            <a:srgbClr val="0432FF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800" dirty="0">
                <a:latin typeface="Montserrat" panose="00000500000000000000" pitchFamily="2" charset="0"/>
              </a:rPr>
              <a:t>Internet</a:t>
            </a:r>
          </a:p>
        </p:txBody>
      </p:sp>
      <p:sp>
        <p:nvSpPr>
          <p:cNvPr id="15367" name="Rectangle 15366">
            <a:extLst>
              <a:ext uri="{FF2B5EF4-FFF2-40B4-BE49-F238E27FC236}">
                <a16:creationId xmlns:a16="http://schemas.microsoft.com/office/drawing/2014/main" id="{A1F54153-4A5B-2CE6-F1BC-1F4C1CE50E63}"/>
              </a:ext>
            </a:extLst>
          </p:cNvPr>
          <p:cNvSpPr/>
          <p:nvPr/>
        </p:nvSpPr>
        <p:spPr>
          <a:xfrm>
            <a:off x="4341859" y="1774111"/>
            <a:ext cx="3965823" cy="1008993"/>
          </a:xfrm>
          <a:prstGeom prst="rect">
            <a:avLst/>
          </a:prstGeom>
          <a:solidFill>
            <a:srgbClr val="0432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2800" dirty="0">
              <a:latin typeface="Montserrat" panose="00000500000000000000" pitchFamily="2" charset="0"/>
            </a:endParaRPr>
          </a:p>
        </p:txBody>
      </p:sp>
      <p:sp>
        <p:nvSpPr>
          <p:cNvPr id="15368" name="Rectangle 15367">
            <a:extLst>
              <a:ext uri="{FF2B5EF4-FFF2-40B4-BE49-F238E27FC236}">
                <a16:creationId xmlns:a16="http://schemas.microsoft.com/office/drawing/2014/main" id="{A8D4E106-6090-FBAB-9ABD-79A958528B72}"/>
              </a:ext>
            </a:extLst>
          </p:cNvPr>
          <p:cNvSpPr/>
          <p:nvPr/>
        </p:nvSpPr>
        <p:spPr>
          <a:xfrm>
            <a:off x="4341859" y="2870127"/>
            <a:ext cx="3965823" cy="1008993"/>
          </a:xfrm>
          <a:prstGeom prst="rect">
            <a:avLst/>
          </a:prstGeom>
          <a:solidFill>
            <a:srgbClr val="0432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2800" dirty="0">
              <a:latin typeface="Montserrat" panose="00000500000000000000" pitchFamily="2" charset="0"/>
            </a:endParaRPr>
          </a:p>
        </p:txBody>
      </p:sp>
      <p:sp>
        <p:nvSpPr>
          <p:cNvPr id="15369" name="Rectangle 15368">
            <a:extLst>
              <a:ext uri="{FF2B5EF4-FFF2-40B4-BE49-F238E27FC236}">
                <a16:creationId xmlns:a16="http://schemas.microsoft.com/office/drawing/2014/main" id="{65622567-F720-6A5D-C194-0E6EE80ECEDA}"/>
              </a:ext>
            </a:extLst>
          </p:cNvPr>
          <p:cNvSpPr/>
          <p:nvPr/>
        </p:nvSpPr>
        <p:spPr>
          <a:xfrm>
            <a:off x="4341859" y="3966143"/>
            <a:ext cx="3965823" cy="460985"/>
          </a:xfrm>
          <a:prstGeom prst="rect">
            <a:avLst/>
          </a:prstGeom>
          <a:solidFill>
            <a:srgbClr val="0432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2800" dirty="0">
              <a:latin typeface="Montserrat" panose="00000500000000000000" pitchFamily="2" charset="0"/>
            </a:endParaRPr>
          </a:p>
        </p:txBody>
      </p:sp>
      <p:sp>
        <p:nvSpPr>
          <p:cNvPr id="15370" name="Rectangle 15369">
            <a:extLst>
              <a:ext uri="{FF2B5EF4-FFF2-40B4-BE49-F238E27FC236}">
                <a16:creationId xmlns:a16="http://schemas.microsoft.com/office/drawing/2014/main" id="{B516DF29-EF98-06F0-62ED-008F5D3CE58C}"/>
              </a:ext>
            </a:extLst>
          </p:cNvPr>
          <p:cNvSpPr/>
          <p:nvPr/>
        </p:nvSpPr>
        <p:spPr>
          <a:xfrm>
            <a:off x="4341859" y="4514151"/>
            <a:ext cx="3965823" cy="1008993"/>
          </a:xfrm>
          <a:prstGeom prst="rect">
            <a:avLst/>
          </a:prstGeom>
          <a:solidFill>
            <a:srgbClr val="0432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2800" dirty="0">
              <a:latin typeface="Montserrat" panose="00000500000000000000" pitchFamily="2" charset="0"/>
            </a:endParaRPr>
          </a:p>
        </p:txBody>
      </p:sp>
      <p:sp>
        <p:nvSpPr>
          <p:cNvPr id="15371" name="Rectangle 15370">
            <a:extLst>
              <a:ext uri="{FF2B5EF4-FFF2-40B4-BE49-F238E27FC236}">
                <a16:creationId xmlns:a16="http://schemas.microsoft.com/office/drawing/2014/main" id="{5B71B60A-1D6C-0924-AD88-3510FA4DA79F}"/>
              </a:ext>
            </a:extLst>
          </p:cNvPr>
          <p:cNvSpPr/>
          <p:nvPr/>
        </p:nvSpPr>
        <p:spPr>
          <a:xfrm>
            <a:off x="4409630" y="1866647"/>
            <a:ext cx="1347746" cy="797507"/>
          </a:xfrm>
          <a:prstGeom prst="rect">
            <a:avLst/>
          </a:prstGeom>
          <a:solidFill>
            <a:srgbClr val="60A50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800" dirty="0">
                <a:latin typeface="Montserrat" panose="00000500000000000000" pitchFamily="2" charset="0"/>
              </a:rPr>
              <a:t>DHCP</a:t>
            </a:r>
          </a:p>
        </p:txBody>
      </p:sp>
      <p:sp>
        <p:nvSpPr>
          <p:cNvPr id="15372" name="Rectangle 15371">
            <a:extLst>
              <a:ext uri="{FF2B5EF4-FFF2-40B4-BE49-F238E27FC236}">
                <a16:creationId xmlns:a16="http://schemas.microsoft.com/office/drawing/2014/main" id="{A7E609BB-5F35-026F-48C8-F8F78DE1E963}"/>
              </a:ext>
            </a:extLst>
          </p:cNvPr>
          <p:cNvSpPr/>
          <p:nvPr/>
        </p:nvSpPr>
        <p:spPr>
          <a:xfrm>
            <a:off x="5800106" y="1857891"/>
            <a:ext cx="1177192" cy="809297"/>
          </a:xfrm>
          <a:prstGeom prst="rect">
            <a:avLst/>
          </a:prstGeom>
          <a:solidFill>
            <a:srgbClr val="60A50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800" dirty="0">
                <a:latin typeface="Montserrat" panose="00000500000000000000" pitchFamily="2" charset="0"/>
              </a:rPr>
              <a:t>DNS</a:t>
            </a:r>
          </a:p>
        </p:txBody>
      </p:sp>
      <p:sp>
        <p:nvSpPr>
          <p:cNvPr id="15373" name="Rectangle 15372">
            <a:extLst>
              <a:ext uri="{FF2B5EF4-FFF2-40B4-BE49-F238E27FC236}">
                <a16:creationId xmlns:a16="http://schemas.microsoft.com/office/drawing/2014/main" id="{0C0D009D-FC9D-AB16-D7FF-6B349EF98820}"/>
              </a:ext>
            </a:extLst>
          </p:cNvPr>
          <p:cNvSpPr/>
          <p:nvPr/>
        </p:nvSpPr>
        <p:spPr>
          <a:xfrm>
            <a:off x="7016099" y="1857916"/>
            <a:ext cx="1177193" cy="809297"/>
          </a:xfrm>
          <a:prstGeom prst="rect">
            <a:avLst/>
          </a:prstGeom>
          <a:solidFill>
            <a:srgbClr val="60A50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800" dirty="0">
                <a:latin typeface="Montserrat" panose="00000500000000000000" pitchFamily="2" charset="0"/>
              </a:rPr>
              <a:t>HTTP</a:t>
            </a:r>
          </a:p>
        </p:txBody>
      </p:sp>
      <p:sp>
        <p:nvSpPr>
          <p:cNvPr id="15374" name="Rectangle 15373">
            <a:extLst>
              <a:ext uri="{FF2B5EF4-FFF2-40B4-BE49-F238E27FC236}">
                <a16:creationId xmlns:a16="http://schemas.microsoft.com/office/drawing/2014/main" id="{3BBB7CAD-A40F-F22B-E8FE-34ABB0C3A4A1}"/>
              </a:ext>
            </a:extLst>
          </p:cNvPr>
          <p:cNvSpPr/>
          <p:nvPr/>
        </p:nvSpPr>
        <p:spPr>
          <a:xfrm>
            <a:off x="4525013" y="2968980"/>
            <a:ext cx="1707287" cy="809297"/>
          </a:xfrm>
          <a:prstGeom prst="rect">
            <a:avLst/>
          </a:prstGeom>
          <a:solidFill>
            <a:srgbClr val="60A50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800" dirty="0">
                <a:latin typeface="Montserrat" panose="00000500000000000000" pitchFamily="2" charset="0"/>
              </a:rPr>
              <a:t>TCP</a:t>
            </a:r>
          </a:p>
        </p:txBody>
      </p:sp>
      <p:sp>
        <p:nvSpPr>
          <p:cNvPr id="15375" name="Rectangle 15374">
            <a:extLst>
              <a:ext uri="{FF2B5EF4-FFF2-40B4-BE49-F238E27FC236}">
                <a16:creationId xmlns:a16="http://schemas.microsoft.com/office/drawing/2014/main" id="{7C9766D2-4E0A-3883-8B92-55C094E7D952}"/>
              </a:ext>
            </a:extLst>
          </p:cNvPr>
          <p:cNvSpPr/>
          <p:nvPr/>
        </p:nvSpPr>
        <p:spPr>
          <a:xfrm>
            <a:off x="6443275" y="2968980"/>
            <a:ext cx="1707287" cy="809297"/>
          </a:xfrm>
          <a:prstGeom prst="rect">
            <a:avLst/>
          </a:prstGeom>
          <a:solidFill>
            <a:srgbClr val="60A50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800" dirty="0">
                <a:latin typeface="Montserrat" panose="00000500000000000000" pitchFamily="2" charset="0"/>
              </a:rPr>
              <a:t>UDP</a:t>
            </a:r>
          </a:p>
        </p:txBody>
      </p:sp>
      <p:sp>
        <p:nvSpPr>
          <p:cNvPr id="15376" name="Rectangle 15375">
            <a:extLst>
              <a:ext uri="{FF2B5EF4-FFF2-40B4-BE49-F238E27FC236}">
                <a16:creationId xmlns:a16="http://schemas.microsoft.com/office/drawing/2014/main" id="{A8EBE0F5-3D6F-93AA-E2EB-307EE66275B0}"/>
              </a:ext>
            </a:extLst>
          </p:cNvPr>
          <p:cNvSpPr/>
          <p:nvPr/>
        </p:nvSpPr>
        <p:spPr>
          <a:xfrm>
            <a:off x="4521746" y="4009991"/>
            <a:ext cx="3628815" cy="377450"/>
          </a:xfrm>
          <a:prstGeom prst="rect">
            <a:avLst/>
          </a:prstGeom>
          <a:solidFill>
            <a:srgbClr val="60A50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800" dirty="0">
                <a:latin typeface="Montserrat" panose="00000500000000000000" pitchFamily="2" charset="0"/>
              </a:rPr>
              <a:t>IP</a:t>
            </a:r>
          </a:p>
        </p:txBody>
      </p:sp>
      <p:sp>
        <p:nvSpPr>
          <p:cNvPr id="15377" name="Rectangle 15376">
            <a:extLst>
              <a:ext uri="{FF2B5EF4-FFF2-40B4-BE49-F238E27FC236}">
                <a16:creationId xmlns:a16="http://schemas.microsoft.com/office/drawing/2014/main" id="{A6CD3544-492E-6B3A-B913-E46A8C8B6CCE}"/>
              </a:ext>
            </a:extLst>
          </p:cNvPr>
          <p:cNvSpPr/>
          <p:nvPr/>
        </p:nvSpPr>
        <p:spPr>
          <a:xfrm>
            <a:off x="4521746" y="4611517"/>
            <a:ext cx="1764408" cy="809297"/>
          </a:xfrm>
          <a:prstGeom prst="rect">
            <a:avLst/>
          </a:prstGeom>
          <a:solidFill>
            <a:srgbClr val="60A50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800" dirty="0">
                <a:latin typeface="Montserrat" panose="00000500000000000000" pitchFamily="2" charset="0"/>
              </a:rPr>
              <a:t>Ethernet</a:t>
            </a:r>
          </a:p>
        </p:txBody>
      </p:sp>
      <p:sp>
        <p:nvSpPr>
          <p:cNvPr id="15378" name="Rectangle 15377">
            <a:extLst>
              <a:ext uri="{FF2B5EF4-FFF2-40B4-BE49-F238E27FC236}">
                <a16:creationId xmlns:a16="http://schemas.microsoft.com/office/drawing/2014/main" id="{152225F8-00CD-792C-FCB6-A8C3CD349BDF}"/>
              </a:ext>
            </a:extLst>
          </p:cNvPr>
          <p:cNvSpPr/>
          <p:nvPr/>
        </p:nvSpPr>
        <p:spPr>
          <a:xfrm>
            <a:off x="6443274" y="4611517"/>
            <a:ext cx="1707287" cy="809297"/>
          </a:xfrm>
          <a:prstGeom prst="rect">
            <a:avLst/>
          </a:prstGeom>
          <a:solidFill>
            <a:srgbClr val="60A50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800" dirty="0">
                <a:latin typeface="Montserrat" panose="00000500000000000000" pitchFamily="2" charset="0"/>
              </a:rPr>
              <a:t>802.11</a:t>
            </a:r>
          </a:p>
        </p:txBody>
      </p:sp>
      <p:sp>
        <p:nvSpPr>
          <p:cNvPr id="15379" name="TextBox 15378">
            <a:extLst>
              <a:ext uri="{FF2B5EF4-FFF2-40B4-BE49-F238E27FC236}">
                <a16:creationId xmlns:a16="http://schemas.microsoft.com/office/drawing/2014/main" id="{9BABF025-6AA8-FE5E-935D-C0E17BC52CA3}"/>
              </a:ext>
            </a:extLst>
          </p:cNvPr>
          <p:cNvSpPr txBox="1"/>
          <p:nvPr/>
        </p:nvSpPr>
        <p:spPr>
          <a:xfrm>
            <a:off x="4925010" y="1256404"/>
            <a:ext cx="27735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sz="2800" dirty="0">
                <a:latin typeface="Montserrat" panose="00000500000000000000" pitchFamily="2" charset="0"/>
              </a:rPr>
              <a:t>Protocol Suite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6A4DD0-E7C9-443A-EFCB-E6A24D73AB86}"/>
              </a:ext>
            </a:extLst>
          </p:cNvPr>
          <p:cNvSpPr txBox="1"/>
          <p:nvPr/>
        </p:nvSpPr>
        <p:spPr>
          <a:xfrm>
            <a:off x="9127042" y="2617799"/>
            <a:ext cx="2564111" cy="224676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Montserrat" panose="00000500000000000000" pitchFamily="2" charset="0"/>
              </a:rPr>
              <a:t>This is not an exhaustive list. The Application, Internet and Network Access Layers have other protocols.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302857-A764-F6DB-1FDB-D29848F8E4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0385" y="2027868"/>
            <a:ext cx="910389" cy="910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184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1" grpId="0" animBg="1"/>
      <p:bldP spid="15362" grpId="0" animBg="1"/>
      <p:bldP spid="15363" grpId="0" animBg="1"/>
      <p:bldP spid="15366" grpId="0" animBg="1"/>
      <p:bldP spid="15367" grpId="0" animBg="1"/>
      <p:bldP spid="15368" grpId="0" animBg="1"/>
      <p:bldP spid="15369" grpId="0" animBg="1"/>
      <p:bldP spid="15370" grpId="0" animBg="1"/>
      <p:bldP spid="15371" grpId="0" animBg="1"/>
      <p:bldP spid="15372" grpId="0" animBg="1"/>
      <p:bldP spid="15373" grpId="0" animBg="1"/>
      <p:bldP spid="15374" grpId="0" animBg="1"/>
      <p:bldP spid="15375" grpId="0" animBg="1"/>
      <p:bldP spid="15376" grpId="0" animBg="1"/>
      <p:bldP spid="15377" grpId="0" animBg="1"/>
      <p:bldP spid="15378" grpId="0" animBg="1"/>
      <p:bldP spid="15379" grpId="0"/>
      <p:bldP spid="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D58EE-3469-EBEA-34F1-0D9BE58C1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A2ABD-5502-D0C7-106D-FBEC48E3D6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8025" y="298450"/>
            <a:ext cx="6897688" cy="687388"/>
          </a:xfrm>
        </p:spPr>
        <p:txBody>
          <a:bodyPr rtlCol="0">
            <a:normAutofit/>
          </a:bodyPr>
          <a:lstStyle/>
          <a:p>
            <a:pPr algn="l" eaLnBrk="1" fontAlgn="auto" hangingPunct="1">
              <a:lnSpc>
                <a:spcPct val="60000"/>
              </a:lnSpc>
              <a:spcAft>
                <a:spcPts val="0"/>
              </a:spcAft>
              <a:defRPr/>
            </a:pPr>
            <a:r>
              <a:rPr lang="en-IE" sz="2400" b="1" spc="-150" dirty="0">
                <a:solidFill>
                  <a:srgbClr val="294BF9"/>
                </a:solidFill>
                <a:latin typeface="Montserrat Medium" panose="00000600000000000000" pitchFamily="50" charset="0"/>
              </a:rPr>
              <a:t>Protocols</a:t>
            </a:r>
          </a:p>
        </p:txBody>
      </p:sp>
      <p:sp>
        <p:nvSpPr>
          <p:cNvPr id="15364" name="TextBox 28">
            <a:extLst>
              <a:ext uri="{FF2B5EF4-FFF2-40B4-BE49-F238E27FC236}">
                <a16:creationId xmlns:a16="http://schemas.microsoft.com/office/drawing/2014/main" id="{D6B16160-074B-EA6A-3A2C-723008FF06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6200775"/>
            <a:ext cx="6286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fr-FR" altLang="en-IE" sz="2000" dirty="0">
                <a:solidFill>
                  <a:srgbClr val="294BF9"/>
                </a:solidFill>
                <a:latin typeface="Montserrat" pitchFamily="2" charset="77"/>
              </a:rPr>
              <a:t>18</a:t>
            </a:r>
          </a:p>
        </p:txBody>
      </p: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DC5EDD71-8F40-FDC1-D8DC-07D8DD0B38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908" y="148020"/>
            <a:ext cx="1017866" cy="1108384"/>
          </a:xfrm>
          <a:prstGeom prst="rect">
            <a:avLst/>
          </a:prstGeom>
        </p:spPr>
      </p:pic>
      <p:sp>
        <p:nvSpPr>
          <p:cNvPr id="10" name="TextBox 11">
            <a:extLst>
              <a:ext uri="{FF2B5EF4-FFF2-40B4-BE49-F238E27FC236}">
                <a16:creationId xmlns:a16="http://schemas.microsoft.com/office/drawing/2014/main" id="{F8E85EBB-DED9-C4DE-28B9-74943E15E9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5713" y="6391268"/>
            <a:ext cx="45614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CSC1010: Networks &amp; Internet  </a:t>
            </a:r>
            <a:r>
              <a:rPr lang="ar-MA" altLang="en-IE" sz="1200" dirty="0">
                <a:solidFill>
                  <a:srgbClr val="294BF9"/>
                </a:solidFill>
                <a:latin typeface="Montserrat" pitchFamily="2" charset="77"/>
              </a:rPr>
              <a:t>  </a:t>
            </a: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 | </a:t>
            </a:r>
            <a:r>
              <a:rPr lang="ar-MA" altLang="en-IE" sz="1200" dirty="0">
                <a:solidFill>
                  <a:srgbClr val="294BF9"/>
                </a:solidFill>
                <a:latin typeface="Montserrat" pitchFamily="2" charset="77"/>
              </a:rPr>
              <a:t>  </a:t>
            </a: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  Network models</a:t>
            </a:r>
            <a:endParaRPr lang="fr-FR" altLang="en-IE" sz="1200" dirty="0">
              <a:solidFill>
                <a:srgbClr val="294BF9"/>
              </a:solidFill>
              <a:latin typeface="Montserrat" pitchFamily="2" charset="77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7DC19C5-1796-133F-3B13-E1D0D8225C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9938" y="4565997"/>
            <a:ext cx="10252124" cy="1653318"/>
          </a:xfrm>
        </p:spPr>
        <p:txBody>
          <a:bodyPr>
            <a:noAutofit/>
          </a:bodyPr>
          <a:lstStyle/>
          <a:p>
            <a:pPr marL="114300" indent="-342900" algn="l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Think of them as a language for machines</a:t>
            </a:r>
          </a:p>
          <a:p>
            <a:pPr marL="114300" indent="-342900" algn="l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They provide a common way for devices to understand each other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ACA47D1-2C7A-BCEB-6303-4F5FEC1FB015}"/>
              </a:ext>
            </a:extLst>
          </p:cNvPr>
          <p:cNvGrpSpPr/>
          <p:nvPr/>
        </p:nvGrpSpPr>
        <p:grpSpPr>
          <a:xfrm>
            <a:off x="933450" y="2768839"/>
            <a:ext cx="9906000" cy="1496255"/>
            <a:chOff x="0" y="1896798"/>
            <a:chExt cx="9906000" cy="124450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D8FB915-0199-3A05-502A-699C11CFBC01}"/>
                </a:ext>
              </a:extLst>
            </p:cNvPr>
            <p:cNvSpPr/>
            <p:nvPr/>
          </p:nvSpPr>
          <p:spPr>
            <a:xfrm>
              <a:off x="0" y="1896798"/>
              <a:ext cx="9906000" cy="1244505"/>
            </a:xfrm>
            <a:prstGeom prst="rect">
              <a:avLst/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0"/>
                <a:satOff val="0"/>
                <a:lumOff val="0"/>
                <a:alphaOff val="0"/>
              </a:schemeClr>
            </a:fillRef>
            <a:effectRef idx="2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E">
                <a:latin typeface="Montserrat" panose="00000500000000000000" pitchFamily="2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BB1F804-D35C-3ABD-77AF-ED093D6EF969}"/>
                </a:ext>
              </a:extLst>
            </p:cNvPr>
            <p:cNvSpPr txBox="1"/>
            <p:nvPr/>
          </p:nvSpPr>
          <p:spPr>
            <a:xfrm>
              <a:off x="0" y="1896798"/>
              <a:ext cx="9906000" cy="67203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77800" tIns="177800" rIns="177800" bIns="177800" numCol="1" spcCol="1270" anchor="ctr" anchorCtr="0">
              <a:noAutofit/>
            </a:bodyPr>
            <a:lstStyle/>
            <a:p>
              <a:pPr marL="0" lvl="0" indent="0" algn="ctr" defTabSz="1111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2500" kern="1200">
                  <a:latin typeface="Montserrat" panose="00000500000000000000" pitchFamily="2" charset="0"/>
                </a:rPr>
                <a:t>They control</a:t>
              </a:r>
              <a:endParaRPr lang="en-US" sz="2500" kern="1200">
                <a:latin typeface="Montserrat" panose="00000500000000000000" pitchFamily="2" charset="0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ED194048-4315-D392-79AA-1C93DE0D7610}"/>
              </a:ext>
            </a:extLst>
          </p:cNvPr>
          <p:cNvGrpSpPr/>
          <p:nvPr/>
        </p:nvGrpSpPr>
        <p:grpSpPr>
          <a:xfrm>
            <a:off x="933450" y="3415981"/>
            <a:ext cx="2476499" cy="849114"/>
            <a:chOff x="0" y="2543941"/>
            <a:chExt cx="2476499" cy="572472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64ADA56-3DED-B002-ABC5-CEA78C2EF158}"/>
                </a:ext>
              </a:extLst>
            </p:cNvPr>
            <p:cNvSpPr/>
            <p:nvPr/>
          </p:nvSpPr>
          <p:spPr>
            <a:xfrm>
              <a:off x="0" y="2543941"/>
              <a:ext cx="2476499" cy="572472"/>
            </a:xfrm>
            <a:prstGeom prst="rect">
              <a:avLst/>
            </a:prstGeom>
          </p:spPr>
          <p:style>
            <a:ln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IE">
                <a:latin typeface="Montserrat" panose="00000500000000000000" pitchFamily="2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3A54EBE-03B2-FC2F-DAA6-AB6AE5660BA1}"/>
                </a:ext>
              </a:extLst>
            </p:cNvPr>
            <p:cNvSpPr txBox="1"/>
            <p:nvPr/>
          </p:nvSpPr>
          <p:spPr>
            <a:xfrm>
              <a:off x="0" y="2543941"/>
              <a:ext cx="2476499" cy="57247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8016" tIns="22860" rIns="128016" bIns="2286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800" kern="1200" dirty="0">
                  <a:latin typeface="Montserrat" panose="00000500000000000000" pitchFamily="2" charset="0"/>
                </a:rPr>
                <a:t>Data format</a:t>
              </a:r>
              <a:endParaRPr lang="en-US" sz="1800" kern="1200" dirty="0">
                <a:latin typeface="Montserrat" panose="00000500000000000000" pitchFamily="2" charset="0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500A99F-B805-42B0-72B5-432E7039E7A0}"/>
              </a:ext>
            </a:extLst>
          </p:cNvPr>
          <p:cNvGrpSpPr/>
          <p:nvPr/>
        </p:nvGrpSpPr>
        <p:grpSpPr>
          <a:xfrm>
            <a:off x="3409950" y="3415981"/>
            <a:ext cx="2476499" cy="849114"/>
            <a:chOff x="2476500" y="2543941"/>
            <a:chExt cx="2476499" cy="572472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A05C360-97AE-8105-B2AD-38D5E6C0CDBA}"/>
                </a:ext>
              </a:extLst>
            </p:cNvPr>
            <p:cNvSpPr/>
            <p:nvPr/>
          </p:nvSpPr>
          <p:spPr>
            <a:xfrm>
              <a:off x="2476500" y="2543941"/>
              <a:ext cx="2476499" cy="572472"/>
            </a:xfrm>
            <a:prstGeom prst="rect">
              <a:avLst/>
            </a:prstGeom>
          </p:spPr>
          <p:style>
            <a:lnRef idx="1">
              <a:schemeClr val="accent3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IE">
                <a:latin typeface="Montserrat" panose="00000500000000000000" pitchFamily="2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8839577-906F-68C8-044B-FD8A749CD563}"/>
                </a:ext>
              </a:extLst>
            </p:cNvPr>
            <p:cNvSpPr txBox="1"/>
            <p:nvPr/>
          </p:nvSpPr>
          <p:spPr>
            <a:xfrm>
              <a:off x="2476500" y="2543941"/>
              <a:ext cx="2476499" cy="57247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8016" tIns="22860" rIns="128016" bIns="2286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800" kern="1200" dirty="0">
                  <a:latin typeface="Montserrat" panose="00000500000000000000" pitchFamily="2" charset="0"/>
                </a:rPr>
                <a:t>Data content</a:t>
              </a:r>
              <a:endParaRPr lang="en-US" sz="1800" kern="1200" dirty="0">
                <a:latin typeface="Montserrat" panose="00000500000000000000" pitchFamily="2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EB2684E-BF60-B108-6FB2-8226DD0412B8}"/>
              </a:ext>
            </a:extLst>
          </p:cNvPr>
          <p:cNvGrpSpPr/>
          <p:nvPr/>
        </p:nvGrpSpPr>
        <p:grpSpPr>
          <a:xfrm>
            <a:off x="5886450" y="3415981"/>
            <a:ext cx="2476499" cy="849114"/>
            <a:chOff x="4953000" y="2543941"/>
            <a:chExt cx="2476499" cy="572472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DFBE5BD-08C6-1C78-6DB0-B89C68EEC2D8}"/>
                </a:ext>
              </a:extLst>
            </p:cNvPr>
            <p:cNvSpPr/>
            <p:nvPr/>
          </p:nvSpPr>
          <p:spPr>
            <a:xfrm>
              <a:off x="4953000" y="2543941"/>
              <a:ext cx="2476499" cy="572472"/>
            </a:xfrm>
            <a:prstGeom prst="rect">
              <a:avLst/>
            </a:prstGeom>
          </p:spPr>
          <p:style>
            <a:lnRef idx="1">
              <a:schemeClr val="accent4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IE">
                <a:latin typeface="Montserrat" panose="00000500000000000000" pitchFamily="2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BC29BAE-2131-2BE8-9E52-8C305CBE428C}"/>
                </a:ext>
              </a:extLst>
            </p:cNvPr>
            <p:cNvSpPr txBox="1"/>
            <p:nvPr/>
          </p:nvSpPr>
          <p:spPr>
            <a:xfrm>
              <a:off x="4953000" y="2543941"/>
              <a:ext cx="2476499" cy="57247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8016" tIns="22860" rIns="128016" bIns="2286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1800" kern="1200">
                  <a:latin typeface="Montserrat" panose="00000500000000000000" pitchFamily="2" charset="0"/>
                </a:rPr>
                <a:t>Timing/synchronisation of communication</a:t>
              </a:r>
              <a:endParaRPr lang="en-US" sz="1800" kern="1200">
                <a:latin typeface="Montserrat" panose="00000500000000000000" pitchFamily="2" charset="0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69461FF-3F35-6B3C-6D5C-A18E82056634}"/>
              </a:ext>
            </a:extLst>
          </p:cNvPr>
          <p:cNvGrpSpPr/>
          <p:nvPr/>
        </p:nvGrpSpPr>
        <p:grpSpPr>
          <a:xfrm>
            <a:off x="933450" y="1407348"/>
            <a:ext cx="9906000" cy="1361490"/>
            <a:chOff x="0" y="1417"/>
            <a:chExt cx="9906000" cy="1914049"/>
          </a:xfrm>
        </p:grpSpPr>
        <p:sp>
          <p:nvSpPr>
            <p:cNvPr id="20" name="Callout: Up Arrow 19">
              <a:extLst>
                <a:ext uri="{FF2B5EF4-FFF2-40B4-BE49-F238E27FC236}">
                  <a16:creationId xmlns:a16="http://schemas.microsoft.com/office/drawing/2014/main" id="{A670D440-539E-3F44-81FA-89068FD8AC2C}"/>
                </a:ext>
              </a:extLst>
            </p:cNvPr>
            <p:cNvSpPr/>
            <p:nvPr/>
          </p:nvSpPr>
          <p:spPr>
            <a:xfrm rot="10800000">
              <a:off x="0" y="1417"/>
              <a:ext cx="9906000" cy="1914049"/>
            </a:xfrm>
            <a:prstGeom prst="upArrowCallout">
              <a:avLst/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0"/>
                <a:satOff val="0"/>
                <a:lumOff val="0"/>
                <a:alphaOff val="0"/>
              </a:schemeClr>
            </a:fillRef>
            <a:effectRef idx="2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E">
                <a:latin typeface="Montserrat" panose="00000500000000000000" pitchFamily="2" charset="0"/>
              </a:endParaRPr>
            </a:p>
          </p:txBody>
        </p:sp>
        <p:sp>
          <p:nvSpPr>
            <p:cNvPr id="21" name="Callout: Up Arrow 14">
              <a:extLst>
                <a:ext uri="{FF2B5EF4-FFF2-40B4-BE49-F238E27FC236}">
                  <a16:creationId xmlns:a16="http://schemas.microsoft.com/office/drawing/2014/main" id="{662DDFA8-9803-44AD-9D63-3058D28455E4}"/>
                </a:ext>
              </a:extLst>
            </p:cNvPr>
            <p:cNvSpPr txBox="1"/>
            <p:nvPr/>
          </p:nvSpPr>
          <p:spPr>
            <a:xfrm rot="21600000">
              <a:off x="0" y="1417"/>
              <a:ext cx="9906000" cy="124369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77800" tIns="177800" rIns="177800" bIns="177800" numCol="1" spcCol="1270" anchor="ctr" anchorCtr="0">
              <a:noAutofit/>
            </a:bodyPr>
            <a:lstStyle/>
            <a:p>
              <a:pPr marL="0" lvl="0" indent="0" algn="ctr" defTabSz="1111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2500" kern="1200" dirty="0">
                  <a:latin typeface="Montserrat" panose="00000500000000000000" pitchFamily="2" charset="0"/>
                </a:rPr>
                <a:t>Protocols dictate how machines communicate</a:t>
              </a:r>
              <a:endParaRPr lang="en-US" sz="2500" kern="1200" dirty="0">
                <a:latin typeface="Montserrat" panose="00000500000000000000" pitchFamily="2" charset="0"/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B2FA3DB1-F18E-CF26-6DD8-CF617EA8A7EE}"/>
              </a:ext>
            </a:extLst>
          </p:cNvPr>
          <p:cNvSpPr txBox="1"/>
          <p:nvPr/>
        </p:nvSpPr>
        <p:spPr>
          <a:xfrm>
            <a:off x="8362951" y="3415981"/>
            <a:ext cx="2476499" cy="84911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8016" tIns="22860" rIns="128016" bIns="22860" numCol="1" spcCol="1270" anchor="ctr" anchorCtr="0">
            <a:noAutofit/>
          </a:bodyPr>
          <a:lstStyle/>
          <a:p>
            <a:pPr marL="0" lvl="0" indent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800" kern="1200" dirty="0">
                <a:latin typeface="Montserrat" panose="00000500000000000000" pitchFamily="2" charset="0"/>
              </a:rPr>
              <a:t>How the communication is managed</a:t>
            </a:r>
            <a:endParaRPr lang="en-US" sz="1800" kern="12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74974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7BC53-4C8D-0E5A-52EA-FF95A15C0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BDF1E-94F5-14C3-2D4C-CA3CA49483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8025" y="289913"/>
            <a:ext cx="6897688" cy="687388"/>
          </a:xfrm>
        </p:spPr>
        <p:txBody>
          <a:bodyPr rtlCol="0">
            <a:normAutofit/>
          </a:bodyPr>
          <a:lstStyle/>
          <a:p>
            <a:pPr algn="l" eaLnBrk="1" fontAlgn="auto" hangingPunct="1">
              <a:lnSpc>
                <a:spcPct val="60000"/>
              </a:lnSpc>
              <a:spcAft>
                <a:spcPts val="0"/>
              </a:spcAft>
              <a:defRPr/>
            </a:pPr>
            <a:r>
              <a:rPr lang="en-IE" sz="2400" b="1" spc="-150" dirty="0">
                <a:solidFill>
                  <a:srgbClr val="294BF9"/>
                </a:solidFill>
                <a:latin typeface="Montserrat Medium" panose="00000600000000000000" pitchFamily="50" charset="0"/>
              </a:rPr>
              <a:t>TCP/IP data encapsulation</a:t>
            </a:r>
          </a:p>
        </p:txBody>
      </p:sp>
      <p:sp>
        <p:nvSpPr>
          <p:cNvPr id="15364" name="TextBox 28">
            <a:extLst>
              <a:ext uri="{FF2B5EF4-FFF2-40B4-BE49-F238E27FC236}">
                <a16:creationId xmlns:a16="http://schemas.microsoft.com/office/drawing/2014/main" id="{1C726699-2621-BE7E-361E-39796C212A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6200775"/>
            <a:ext cx="6286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fr-FR" altLang="en-IE" sz="2000" dirty="0">
                <a:solidFill>
                  <a:srgbClr val="294BF9"/>
                </a:solidFill>
                <a:latin typeface="Montserrat" pitchFamily="2" charset="77"/>
              </a:rPr>
              <a:t>19</a:t>
            </a:r>
          </a:p>
        </p:txBody>
      </p: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905B4B27-74CF-15C5-A13F-6B41485FB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908" y="148020"/>
            <a:ext cx="1017866" cy="1108384"/>
          </a:xfrm>
          <a:prstGeom prst="rect">
            <a:avLst/>
          </a:prstGeom>
        </p:spPr>
      </p:pic>
      <p:sp>
        <p:nvSpPr>
          <p:cNvPr id="10" name="TextBox 11">
            <a:extLst>
              <a:ext uri="{FF2B5EF4-FFF2-40B4-BE49-F238E27FC236}">
                <a16:creationId xmlns:a16="http://schemas.microsoft.com/office/drawing/2014/main" id="{23140DFC-0A62-5280-C298-93CA4C02E2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5713" y="6391268"/>
            <a:ext cx="45614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CSC1010: Networks &amp; Internet  </a:t>
            </a:r>
            <a:r>
              <a:rPr lang="ar-MA" altLang="en-IE" sz="1200" dirty="0">
                <a:solidFill>
                  <a:srgbClr val="294BF9"/>
                </a:solidFill>
                <a:latin typeface="Montserrat" pitchFamily="2" charset="77"/>
              </a:rPr>
              <a:t>  </a:t>
            </a: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 | </a:t>
            </a:r>
            <a:r>
              <a:rPr lang="ar-MA" altLang="en-IE" sz="1200" dirty="0">
                <a:solidFill>
                  <a:srgbClr val="294BF9"/>
                </a:solidFill>
                <a:latin typeface="Montserrat" pitchFamily="2" charset="77"/>
              </a:rPr>
              <a:t>  </a:t>
            </a: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  Network models</a:t>
            </a:r>
            <a:endParaRPr lang="fr-FR" altLang="en-IE" sz="1200" dirty="0">
              <a:solidFill>
                <a:srgbClr val="294BF9"/>
              </a:solidFill>
              <a:latin typeface="Montserrat" pitchFamily="2" charset="77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919E6E-1E04-031E-AFDB-A487B177AE2F}"/>
              </a:ext>
            </a:extLst>
          </p:cNvPr>
          <p:cNvSpPr/>
          <p:nvPr/>
        </p:nvSpPr>
        <p:spPr>
          <a:xfrm>
            <a:off x="664468" y="1788624"/>
            <a:ext cx="2753710" cy="687389"/>
          </a:xfrm>
          <a:prstGeom prst="rect">
            <a:avLst/>
          </a:prstGeom>
          <a:solidFill>
            <a:srgbClr val="0432FF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800" dirty="0">
                <a:latin typeface="Montserrat" panose="00000500000000000000" pitchFamily="2" charset="0"/>
              </a:rPr>
              <a:t>Application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304E69-F6DF-6FB8-1E9C-849A10989A7F}"/>
              </a:ext>
            </a:extLst>
          </p:cNvPr>
          <p:cNvSpPr/>
          <p:nvPr/>
        </p:nvSpPr>
        <p:spPr>
          <a:xfrm>
            <a:off x="694556" y="4720115"/>
            <a:ext cx="2753710" cy="805329"/>
          </a:xfrm>
          <a:prstGeom prst="rect">
            <a:avLst/>
          </a:prstGeom>
          <a:solidFill>
            <a:srgbClr val="0432FF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800" dirty="0">
                <a:latin typeface="Montserrat" panose="00000500000000000000" pitchFamily="2" charset="0"/>
              </a:rPr>
              <a:t>Network Access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C499C41-54EC-2AAA-F68F-FC91DD447218}"/>
              </a:ext>
            </a:extLst>
          </p:cNvPr>
          <p:cNvSpPr/>
          <p:nvPr/>
        </p:nvSpPr>
        <p:spPr>
          <a:xfrm>
            <a:off x="678579" y="2798495"/>
            <a:ext cx="2753710" cy="687389"/>
          </a:xfrm>
          <a:prstGeom prst="rect">
            <a:avLst/>
          </a:prstGeom>
          <a:solidFill>
            <a:srgbClr val="0432FF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800" dirty="0">
                <a:latin typeface="Montserrat" panose="00000500000000000000" pitchFamily="2" charset="0"/>
              </a:rPr>
              <a:t>Transport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CFB95E-DCAB-C0FB-77ED-3390157B298B}"/>
              </a:ext>
            </a:extLst>
          </p:cNvPr>
          <p:cNvSpPr/>
          <p:nvPr/>
        </p:nvSpPr>
        <p:spPr>
          <a:xfrm>
            <a:off x="694556" y="3773700"/>
            <a:ext cx="2753710" cy="687389"/>
          </a:xfrm>
          <a:prstGeom prst="rect">
            <a:avLst/>
          </a:prstGeom>
          <a:solidFill>
            <a:srgbClr val="0432FF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800" dirty="0">
                <a:latin typeface="Montserrat" panose="00000500000000000000" pitchFamily="2" charset="0"/>
              </a:rPr>
              <a:t>Internet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E87DE8-D799-5821-76B8-7AD2E37F154F}"/>
              </a:ext>
            </a:extLst>
          </p:cNvPr>
          <p:cNvSpPr/>
          <p:nvPr/>
        </p:nvSpPr>
        <p:spPr>
          <a:xfrm>
            <a:off x="9231922" y="733368"/>
            <a:ext cx="1248508" cy="558206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latin typeface="Montserrat" panose="00000500000000000000" pitchFamily="2" charset="0"/>
              </a:rPr>
              <a:t>User data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9A67EDA-6867-16A5-DF40-8CD65C1EC973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9856176" y="1291574"/>
            <a:ext cx="0" cy="49705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84462241-28BD-06FE-EDF5-1FB126518557}"/>
              </a:ext>
            </a:extLst>
          </p:cNvPr>
          <p:cNvSpPr/>
          <p:nvPr/>
        </p:nvSpPr>
        <p:spPr>
          <a:xfrm>
            <a:off x="9222292" y="1811440"/>
            <a:ext cx="1248508" cy="558206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latin typeface="Montserrat" panose="00000500000000000000" pitchFamily="2" charset="0"/>
              </a:rPr>
              <a:t>User data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E0E8F08-C95C-EAF4-0578-6D892B7AF229}"/>
              </a:ext>
            </a:extLst>
          </p:cNvPr>
          <p:cNvSpPr/>
          <p:nvPr/>
        </p:nvSpPr>
        <p:spPr>
          <a:xfrm>
            <a:off x="7915753" y="1811440"/>
            <a:ext cx="1306539" cy="558206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latin typeface="Montserrat" panose="00000500000000000000" pitchFamily="2" charset="0"/>
              </a:rPr>
              <a:t>HTTP header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FD481A8-8100-37D2-5EA8-DFC8CB95AD6C}"/>
              </a:ext>
            </a:extLst>
          </p:cNvPr>
          <p:cNvCxnSpPr>
            <a:cxnSpLocks/>
            <a:endCxn id="22" idx="0"/>
          </p:cNvCxnSpPr>
          <p:nvPr/>
        </p:nvCxnSpPr>
        <p:spPr>
          <a:xfrm flipH="1">
            <a:off x="9846546" y="2368962"/>
            <a:ext cx="2929" cy="49412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6E38994B-1D78-9FB2-B3C5-160BAA025399}"/>
              </a:ext>
            </a:extLst>
          </p:cNvPr>
          <p:cNvSpPr/>
          <p:nvPr/>
        </p:nvSpPr>
        <p:spPr>
          <a:xfrm>
            <a:off x="9222292" y="2863087"/>
            <a:ext cx="1248508" cy="558206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latin typeface="Montserrat" panose="00000500000000000000" pitchFamily="2" charset="0"/>
              </a:rPr>
              <a:t>User data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48EAFBC-030A-2909-1A1F-41B41C593A4E}"/>
              </a:ext>
            </a:extLst>
          </p:cNvPr>
          <p:cNvSpPr/>
          <p:nvPr/>
        </p:nvSpPr>
        <p:spPr>
          <a:xfrm>
            <a:off x="7915753" y="2863087"/>
            <a:ext cx="1306539" cy="558206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latin typeface="Montserrat" panose="00000500000000000000" pitchFamily="2" charset="0"/>
              </a:rPr>
              <a:t>App layer header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47E41B8-6D2A-1C56-FC0E-E4D20294D19D}"/>
              </a:ext>
            </a:extLst>
          </p:cNvPr>
          <p:cNvSpPr/>
          <p:nvPr/>
        </p:nvSpPr>
        <p:spPr>
          <a:xfrm>
            <a:off x="6496678" y="2863087"/>
            <a:ext cx="1419076" cy="558206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latin typeface="Montserrat" panose="00000500000000000000" pitchFamily="2" charset="0"/>
              </a:rPr>
              <a:t>TCP or UDP header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5C28036-10FB-1FE3-7C1A-39266F18B73F}"/>
              </a:ext>
            </a:extLst>
          </p:cNvPr>
          <p:cNvCxnSpPr>
            <a:cxnSpLocks/>
          </p:cNvCxnSpPr>
          <p:nvPr/>
        </p:nvCxnSpPr>
        <p:spPr>
          <a:xfrm>
            <a:off x="9845081" y="3420609"/>
            <a:ext cx="0" cy="42235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60" name="Rectangle 15359">
            <a:extLst>
              <a:ext uri="{FF2B5EF4-FFF2-40B4-BE49-F238E27FC236}">
                <a16:creationId xmlns:a16="http://schemas.microsoft.com/office/drawing/2014/main" id="{A432CB1C-DD8E-95DC-C86A-8DE796447627}"/>
              </a:ext>
            </a:extLst>
          </p:cNvPr>
          <p:cNvSpPr/>
          <p:nvPr/>
        </p:nvSpPr>
        <p:spPr>
          <a:xfrm>
            <a:off x="9222292" y="3842960"/>
            <a:ext cx="1248508" cy="558206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latin typeface="Montserrat" panose="00000500000000000000" pitchFamily="2" charset="0"/>
              </a:rPr>
              <a:t>User data</a:t>
            </a:r>
          </a:p>
        </p:txBody>
      </p:sp>
      <p:sp>
        <p:nvSpPr>
          <p:cNvPr id="15361" name="Rectangle 15360">
            <a:extLst>
              <a:ext uri="{FF2B5EF4-FFF2-40B4-BE49-F238E27FC236}">
                <a16:creationId xmlns:a16="http://schemas.microsoft.com/office/drawing/2014/main" id="{3CA94E87-BAED-4C13-1ED3-C8AB87D347AB}"/>
              </a:ext>
            </a:extLst>
          </p:cNvPr>
          <p:cNvSpPr/>
          <p:nvPr/>
        </p:nvSpPr>
        <p:spPr>
          <a:xfrm>
            <a:off x="7915753" y="3842960"/>
            <a:ext cx="1306539" cy="558206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latin typeface="Montserrat" panose="00000500000000000000" pitchFamily="2" charset="0"/>
              </a:rPr>
              <a:t>App layer header</a:t>
            </a:r>
          </a:p>
        </p:txBody>
      </p:sp>
      <p:sp>
        <p:nvSpPr>
          <p:cNvPr id="15362" name="Rectangle 15361">
            <a:extLst>
              <a:ext uri="{FF2B5EF4-FFF2-40B4-BE49-F238E27FC236}">
                <a16:creationId xmlns:a16="http://schemas.microsoft.com/office/drawing/2014/main" id="{42E09F6E-CF5F-500A-329E-8FE241648F21}"/>
              </a:ext>
            </a:extLst>
          </p:cNvPr>
          <p:cNvSpPr/>
          <p:nvPr/>
        </p:nvSpPr>
        <p:spPr>
          <a:xfrm>
            <a:off x="6496678" y="3842960"/>
            <a:ext cx="1419076" cy="558206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latin typeface="Montserrat" panose="00000500000000000000" pitchFamily="2" charset="0"/>
              </a:rPr>
              <a:t>Transp layer header</a:t>
            </a:r>
          </a:p>
        </p:txBody>
      </p:sp>
      <p:sp>
        <p:nvSpPr>
          <p:cNvPr id="15363" name="Rectangle 15362">
            <a:extLst>
              <a:ext uri="{FF2B5EF4-FFF2-40B4-BE49-F238E27FC236}">
                <a16:creationId xmlns:a16="http://schemas.microsoft.com/office/drawing/2014/main" id="{7E4FDF5A-BF28-5EB1-3E3C-03622C26B72A}"/>
              </a:ext>
            </a:extLst>
          </p:cNvPr>
          <p:cNvSpPr/>
          <p:nvPr/>
        </p:nvSpPr>
        <p:spPr>
          <a:xfrm>
            <a:off x="5190138" y="3844500"/>
            <a:ext cx="1306539" cy="558206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latin typeface="Montserrat" panose="00000500000000000000" pitchFamily="2" charset="0"/>
              </a:rPr>
              <a:t>IP header</a:t>
            </a:r>
          </a:p>
        </p:txBody>
      </p:sp>
      <p:cxnSp>
        <p:nvCxnSpPr>
          <p:cNvPr id="15365" name="Straight Arrow Connector 15364">
            <a:extLst>
              <a:ext uri="{FF2B5EF4-FFF2-40B4-BE49-F238E27FC236}">
                <a16:creationId xmlns:a16="http://schemas.microsoft.com/office/drawing/2014/main" id="{8BC7BB7A-BD43-1A72-5BD3-2C2F8FB7C37A}"/>
              </a:ext>
            </a:extLst>
          </p:cNvPr>
          <p:cNvCxnSpPr>
            <a:cxnSpLocks/>
          </p:cNvCxnSpPr>
          <p:nvPr/>
        </p:nvCxnSpPr>
        <p:spPr>
          <a:xfrm>
            <a:off x="9828961" y="4401166"/>
            <a:ext cx="0" cy="42235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66" name="Rectangle 15365">
            <a:extLst>
              <a:ext uri="{FF2B5EF4-FFF2-40B4-BE49-F238E27FC236}">
                <a16:creationId xmlns:a16="http://schemas.microsoft.com/office/drawing/2014/main" id="{D1F18DDA-CADA-0341-19CF-13D518F90043}"/>
              </a:ext>
            </a:extLst>
          </p:cNvPr>
          <p:cNvSpPr/>
          <p:nvPr/>
        </p:nvSpPr>
        <p:spPr>
          <a:xfrm>
            <a:off x="9222291" y="4822833"/>
            <a:ext cx="1248508" cy="558206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latin typeface="Montserrat" panose="00000500000000000000" pitchFamily="2" charset="0"/>
              </a:rPr>
              <a:t>User data</a:t>
            </a:r>
          </a:p>
        </p:txBody>
      </p:sp>
      <p:sp>
        <p:nvSpPr>
          <p:cNvPr id="15367" name="Rectangle 15366">
            <a:extLst>
              <a:ext uri="{FF2B5EF4-FFF2-40B4-BE49-F238E27FC236}">
                <a16:creationId xmlns:a16="http://schemas.microsoft.com/office/drawing/2014/main" id="{FDBD7105-9EAF-09D6-CCE1-75AD34B5B5EC}"/>
              </a:ext>
            </a:extLst>
          </p:cNvPr>
          <p:cNvSpPr/>
          <p:nvPr/>
        </p:nvSpPr>
        <p:spPr>
          <a:xfrm>
            <a:off x="7915752" y="4822833"/>
            <a:ext cx="1306539" cy="558206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latin typeface="Montserrat" panose="00000500000000000000" pitchFamily="2" charset="0"/>
              </a:rPr>
              <a:t>App layer header</a:t>
            </a:r>
          </a:p>
        </p:txBody>
      </p:sp>
      <p:sp>
        <p:nvSpPr>
          <p:cNvPr id="15368" name="Rectangle 15367">
            <a:extLst>
              <a:ext uri="{FF2B5EF4-FFF2-40B4-BE49-F238E27FC236}">
                <a16:creationId xmlns:a16="http://schemas.microsoft.com/office/drawing/2014/main" id="{AABE0157-A97F-3421-91B0-9DFC3B3BA395}"/>
              </a:ext>
            </a:extLst>
          </p:cNvPr>
          <p:cNvSpPr/>
          <p:nvPr/>
        </p:nvSpPr>
        <p:spPr>
          <a:xfrm>
            <a:off x="6496677" y="4822833"/>
            <a:ext cx="1419076" cy="558206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latin typeface="Montserrat" panose="00000500000000000000" pitchFamily="2" charset="0"/>
              </a:rPr>
              <a:t>Transp layer header</a:t>
            </a:r>
          </a:p>
        </p:txBody>
      </p:sp>
      <p:sp>
        <p:nvSpPr>
          <p:cNvPr id="15369" name="Rectangle 15368">
            <a:extLst>
              <a:ext uri="{FF2B5EF4-FFF2-40B4-BE49-F238E27FC236}">
                <a16:creationId xmlns:a16="http://schemas.microsoft.com/office/drawing/2014/main" id="{7BD87BDF-9D9A-6A96-50E3-B38505C602EA}"/>
              </a:ext>
            </a:extLst>
          </p:cNvPr>
          <p:cNvSpPr/>
          <p:nvPr/>
        </p:nvSpPr>
        <p:spPr>
          <a:xfrm>
            <a:off x="5190137" y="4822833"/>
            <a:ext cx="1306539" cy="559746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latin typeface="Montserrat" panose="00000500000000000000" pitchFamily="2" charset="0"/>
              </a:rPr>
              <a:t>IP header</a:t>
            </a:r>
          </a:p>
        </p:txBody>
      </p:sp>
      <p:sp>
        <p:nvSpPr>
          <p:cNvPr id="15370" name="Rectangle 15369">
            <a:extLst>
              <a:ext uri="{FF2B5EF4-FFF2-40B4-BE49-F238E27FC236}">
                <a16:creationId xmlns:a16="http://schemas.microsoft.com/office/drawing/2014/main" id="{4D334600-5143-D717-1A92-6511D1DF09CD}"/>
              </a:ext>
            </a:extLst>
          </p:cNvPr>
          <p:cNvSpPr/>
          <p:nvPr/>
        </p:nvSpPr>
        <p:spPr>
          <a:xfrm>
            <a:off x="3885048" y="4822833"/>
            <a:ext cx="1306539" cy="562642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latin typeface="Montserrat" panose="00000500000000000000" pitchFamily="2" charset="0"/>
              </a:rPr>
              <a:t>Ethernet header</a:t>
            </a:r>
          </a:p>
        </p:txBody>
      </p:sp>
      <p:sp>
        <p:nvSpPr>
          <p:cNvPr id="15371" name="Rectangle 15370">
            <a:extLst>
              <a:ext uri="{FF2B5EF4-FFF2-40B4-BE49-F238E27FC236}">
                <a16:creationId xmlns:a16="http://schemas.microsoft.com/office/drawing/2014/main" id="{AFFDA143-CEAE-C6D7-D4EC-9413F035812E}"/>
              </a:ext>
            </a:extLst>
          </p:cNvPr>
          <p:cNvSpPr/>
          <p:nvPr/>
        </p:nvSpPr>
        <p:spPr>
          <a:xfrm>
            <a:off x="10480430" y="4822834"/>
            <a:ext cx="1306539" cy="55820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latin typeface="Montserrat" panose="00000500000000000000" pitchFamily="2" charset="0"/>
              </a:rPr>
              <a:t>Ethernet trailer</a:t>
            </a:r>
          </a:p>
        </p:txBody>
      </p:sp>
      <p:cxnSp>
        <p:nvCxnSpPr>
          <p:cNvPr id="15372" name="Straight Arrow Connector 15371">
            <a:extLst>
              <a:ext uri="{FF2B5EF4-FFF2-40B4-BE49-F238E27FC236}">
                <a16:creationId xmlns:a16="http://schemas.microsoft.com/office/drawing/2014/main" id="{FA419EDF-0418-27FB-E3E8-E20C0CFEF5BC}"/>
              </a:ext>
            </a:extLst>
          </p:cNvPr>
          <p:cNvCxnSpPr>
            <a:cxnSpLocks/>
          </p:cNvCxnSpPr>
          <p:nvPr/>
        </p:nvCxnSpPr>
        <p:spPr>
          <a:xfrm>
            <a:off x="9814306" y="5381039"/>
            <a:ext cx="0" cy="42235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73" name="TextBox 15372">
            <a:extLst>
              <a:ext uri="{FF2B5EF4-FFF2-40B4-BE49-F238E27FC236}">
                <a16:creationId xmlns:a16="http://schemas.microsoft.com/office/drawing/2014/main" id="{B76D4BD8-B349-727C-16F3-4688EDF32423}"/>
              </a:ext>
            </a:extLst>
          </p:cNvPr>
          <p:cNvSpPr txBox="1"/>
          <p:nvPr/>
        </p:nvSpPr>
        <p:spPr>
          <a:xfrm>
            <a:off x="6086370" y="5806783"/>
            <a:ext cx="5272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Montserrat" panose="00000500000000000000" pitchFamily="2" charset="0"/>
              </a:rPr>
              <a:t>010011011110011100000011001110100101101110111</a:t>
            </a:r>
          </a:p>
        </p:txBody>
      </p:sp>
      <p:sp>
        <p:nvSpPr>
          <p:cNvPr id="3" name="Left Brace 2">
            <a:extLst>
              <a:ext uri="{FF2B5EF4-FFF2-40B4-BE49-F238E27FC236}">
                <a16:creationId xmlns:a16="http://schemas.microsoft.com/office/drawing/2014/main" id="{224C9F92-8269-9C7A-1D1B-24EF039A81DF}"/>
              </a:ext>
            </a:extLst>
          </p:cNvPr>
          <p:cNvSpPr/>
          <p:nvPr/>
        </p:nvSpPr>
        <p:spPr>
          <a:xfrm rot="5400000">
            <a:off x="9094639" y="415459"/>
            <a:ext cx="186725" cy="2565595"/>
          </a:xfrm>
          <a:prstGeom prst="leftBrace">
            <a:avLst>
              <a:gd name="adj1" fmla="val 64901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2FA0E0-A946-65D2-3D48-C9251092A8A4}"/>
              </a:ext>
            </a:extLst>
          </p:cNvPr>
          <p:cNvSpPr txBox="1"/>
          <p:nvPr/>
        </p:nvSpPr>
        <p:spPr>
          <a:xfrm>
            <a:off x="8055558" y="1241021"/>
            <a:ext cx="9658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Montserrat" panose="00000500000000000000" pitchFamily="2" charset="0"/>
              </a:rPr>
              <a:t>PDU</a:t>
            </a: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CCFB0ABF-F4F3-8066-B2C6-6A106B065176}"/>
              </a:ext>
            </a:extLst>
          </p:cNvPr>
          <p:cNvSpPr/>
          <p:nvPr/>
        </p:nvSpPr>
        <p:spPr>
          <a:xfrm rot="5400000">
            <a:off x="8369130" y="755184"/>
            <a:ext cx="238841" cy="3983751"/>
          </a:xfrm>
          <a:prstGeom prst="leftBrace">
            <a:avLst>
              <a:gd name="adj1" fmla="val 64901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231432-2CB9-98D7-F86B-0BE3C4EC1A20}"/>
              </a:ext>
            </a:extLst>
          </p:cNvPr>
          <p:cNvSpPr txBox="1"/>
          <p:nvPr/>
        </p:nvSpPr>
        <p:spPr>
          <a:xfrm>
            <a:off x="5050306" y="2310279"/>
            <a:ext cx="37250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Montserrat" panose="00000500000000000000" pitchFamily="2" charset="0"/>
              </a:rPr>
              <a:t>Segment/ Datagram</a:t>
            </a:r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EDAE8D3C-DF46-3E28-3A3A-16AFBBDA3693}"/>
              </a:ext>
            </a:extLst>
          </p:cNvPr>
          <p:cNvSpPr/>
          <p:nvPr/>
        </p:nvSpPr>
        <p:spPr>
          <a:xfrm rot="5400000">
            <a:off x="7724231" y="1091405"/>
            <a:ext cx="210166" cy="5282969"/>
          </a:xfrm>
          <a:prstGeom prst="leftBrace">
            <a:avLst>
              <a:gd name="adj1" fmla="val 64901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489CBF-E857-9B9C-C0DA-6DF3F8BC5459}"/>
              </a:ext>
            </a:extLst>
          </p:cNvPr>
          <p:cNvSpPr txBox="1"/>
          <p:nvPr/>
        </p:nvSpPr>
        <p:spPr>
          <a:xfrm>
            <a:off x="5155301" y="3316186"/>
            <a:ext cx="13290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Montserrat" panose="00000500000000000000" pitchFamily="2" charset="0"/>
              </a:rPr>
              <a:t>Packet</a:t>
            </a:r>
          </a:p>
        </p:txBody>
      </p:sp>
      <p:sp>
        <p:nvSpPr>
          <p:cNvPr id="18" name="Left Brace 17">
            <a:extLst>
              <a:ext uri="{FF2B5EF4-FFF2-40B4-BE49-F238E27FC236}">
                <a16:creationId xmlns:a16="http://schemas.microsoft.com/office/drawing/2014/main" id="{9C3D991F-C113-67E8-217A-3099C37516B9}"/>
              </a:ext>
            </a:extLst>
          </p:cNvPr>
          <p:cNvSpPr/>
          <p:nvPr/>
        </p:nvSpPr>
        <p:spPr>
          <a:xfrm rot="5400000">
            <a:off x="7730925" y="742875"/>
            <a:ext cx="210168" cy="7901923"/>
          </a:xfrm>
          <a:prstGeom prst="leftBrace">
            <a:avLst>
              <a:gd name="adj1" fmla="val 64901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52D5955-362C-0A0B-2AD9-2B74B9ADA060}"/>
              </a:ext>
            </a:extLst>
          </p:cNvPr>
          <p:cNvSpPr txBox="1"/>
          <p:nvPr/>
        </p:nvSpPr>
        <p:spPr>
          <a:xfrm>
            <a:off x="3852519" y="4277132"/>
            <a:ext cx="13290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Montserrat" panose="00000500000000000000" pitchFamily="2" charset="0"/>
              </a:rPr>
              <a:t>Frame</a:t>
            </a:r>
          </a:p>
        </p:txBody>
      </p:sp>
    </p:spTree>
    <p:extLst>
      <p:ext uri="{BB962C8B-B14F-4D97-AF65-F5344CB8AC3E}">
        <p14:creationId xmlns:p14="http://schemas.microsoft.com/office/powerpoint/2010/main" val="722210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7" grpId="0" animBg="1"/>
      <p:bldP spid="19" grpId="0" animBg="1"/>
      <p:bldP spid="22" grpId="0" animBg="1"/>
      <p:bldP spid="23" grpId="0" animBg="1"/>
      <p:bldP spid="29" grpId="0" animBg="1"/>
      <p:bldP spid="15360" grpId="0" animBg="1"/>
      <p:bldP spid="15361" grpId="0" animBg="1"/>
      <p:bldP spid="15362" grpId="0" animBg="1"/>
      <p:bldP spid="15363" grpId="0" animBg="1"/>
      <p:bldP spid="15366" grpId="0" animBg="1"/>
      <p:bldP spid="15367" grpId="0" animBg="1"/>
      <p:bldP spid="15368" grpId="0" animBg="1"/>
      <p:bldP spid="15369" grpId="0" animBg="1"/>
      <p:bldP spid="15370" grpId="0" animBg="1"/>
      <p:bldP spid="15371" grpId="0" animBg="1"/>
      <p:bldP spid="15373" grpId="0"/>
      <p:bldP spid="3" grpId="0" animBg="1"/>
      <p:bldP spid="5" grpId="0"/>
      <p:bldP spid="7" grpId="0" animBg="1"/>
      <p:bldP spid="13" grpId="0"/>
      <p:bldP spid="15" grpId="0" animBg="1"/>
      <p:bldP spid="16" grpId="0"/>
      <p:bldP spid="18" grpId="0" animBg="1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FA4EA-049E-5DB9-3E8B-53A27EB68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93E0E-3B2B-A809-7B8F-7D0851BCAB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8025" y="298450"/>
            <a:ext cx="6897688" cy="687388"/>
          </a:xfrm>
        </p:spPr>
        <p:txBody>
          <a:bodyPr rtlCol="0">
            <a:normAutofit/>
          </a:bodyPr>
          <a:lstStyle/>
          <a:p>
            <a:pPr algn="l" eaLnBrk="1" fontAlgn="auto" hangingPunct="1">
              <a:lnSpc>
                <a:spcPct val="60000"/>
              </a:lnSpc>
              <a:spcAft>
                <a:spcPts val="0"/>
              </a:spcAft>
              <a:defRPr/>
            </a:pPr>
            <a:r>
              <a:rPr lang="en-IE" sz="2400" b="1" spc="-150" dirty="0">
                <a:solidFill>
                  <a:srgbClr val="294BF9"/>
                </a:solidFill>
                <a:latin typeface="Montserrat Medium" panose="00000600000000000000" pitchFamily="50" charset="0"/>
              </a:rPr>
              <a:t>Addressing</a:t>
            </a:r>
          </a:p>
        </p:txBody>
      </p:sp>
      <p:sp>
        <p:nvSpPr>
          <p:cNvPr id="15364" name="TextBox 28">
            <a:extLst>
              <a:ext uri="{FF2B5EF4-FFF2-40B4-BE49-F238E27FC236}">
                <a16:creationId xmlns:a16="http://schemas.microsoft.com/office/drawing/2014/main" id="{C2B7A33D-36D6-1495-1869-C0042A1FF8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6200775"/>
            <a:ext cx="6286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fr-FR" altLang="en-IE" sz="2000" dirty="0">
                <a:solidFill>
                  <a:srgbClr val="294BF9"/>
                </a:solidFill>
                <a:latin typeface="Montserrat" pitchFamily="2" charset="77"/>
              </a:rPr>
              <a:t>20</a:t>
            </a:r>
          </a:p>
        </p:txBody>
      </p: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7CACBA35-F690-A152-9C62-DFCFC0EEE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908" y="148020"/>
            <a:ext cx="1017866" cy="1108384"/>
          </a:xfrm>
          <a:prstGeom prst="rect">
            <a:avLst/>
          </a:prstGeom>
        </p:spPr>
      </p:pic>
      <p:sp>
        <p:nvSpPr>
          <p:cNvPr id="10" name="TextBox 11">
            <a:extLst>
              <a:ext uri="{FF2B5EF4-FFF2-40B4-BE49-F238E27FC236}">
                <a16:creationId xmlns:a16="http://schemas.microsoft.com/office/drawing/2014/main" id="{CB298254-49AB-412C-62A7-7879BE8B96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5713" y="6391268"/>
            <a:ext cx="45614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CSC1010: Networks &amp; Internet  </a:t>
            </a:r>
            <a:r>
              <a:rPr lang="ar-MA" altLang="en-IE" sz="1200" dirty="0">
                <a:solidFill>
                  <a:srgbClr val="294BF9"/>
                </a:solidFill>
                <a:latin typeface="Montserrat" pitchFamily="2" charset="77"/>
              </a:rPr>
              <a:t>  </a:t>
            </a: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 | </a:t>
            </a:r>
            <a:r>
              <a:rPr lang="ar-MA" altLang="en-IE" sz="1200" dirty="0">
                <a:solidFill>
                  <a:srgbClr val="294BF9"/>
                </a:solidFill>
                <a:latin typeface="Montserrat" pitchFamily="2" charset="77"/>
              </a:rPr>
              <a:t>  </a:t>
            </a: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  Network models</a:t>
            </a:r>
            <a:endParaRPr lang="fr-FR" altLang="en-IE" sz="1200" dirty="0">
              <a:solidFill>
                <a:srgbClr val="294BF9"/>
              </a:solidFill>
              <a:latin typeface="Montserrat" pitchFamily="2" charset="77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EC384B26-8D18-5871-E5F5-705625FBEC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8025" y="1237152"/>
            <a:ext cx="5640223" cy="5322397"/>
          </a:xfrm>
        </p:spPr>
        <p:txBody>
          <a:bodyPr>
            <a:noAutofit/>
          </a:bodyPr>
          <a:lstStyle/>
          <a:p>
            <a:pPr marL="114300" indent="-342900" algn="l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E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Three different levels of addresses are used in the TCP/IP model </a:t>
            </a:r>
          </a:p>
          <a:p>
            <a:pPr marL="571500" lvl="1" indent="-342900" algn="l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E" sz="2400" dirty="0">
                <a:solidFill>
                  <a:srgbClr val="0432FF"/>
                </a:solidFill>
                <a:latin typeface="Montserrat" panose="00000500000000000000" pitchFamily="50" charset="0"/>
              </a:rPr>
              <a:t>MAC</a:t>
            </a:r>
            <a:r>
              <a:rPr lang="en-IE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 (Media Access Control) addressing at the Network Access layer </a:t>
            </a:r>
          </a:p>
          <a:p>
            <a:pPr marL="571500" lvl="1" indent="-342900" algn="l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E" sz="2400" dirty="0">
                <a:solidFill>
                  <a:srgbClr val="0432FF"/>
                </a:solidFill>
                <a:latin typeface="Montserrat" panose="00000500000000000000" pitchFamily="50" charset="0"/>
              </a:rPr>
              <a:t>IP</a:t>
            </a:r>
            <a:r>
              <a:rPr lang="en-IE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 addressing at the Internet Layer</a:t>
            </a:r>
          </a:p>
          <a:p>
            <a:pPr marL="571500" lvl="1" indent="-342900" algn="l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E" sz="2400" dirty="0">
                <a:solidFill>
                  <a:srgbClr val="0432FF"/>
                </a:solidFill>
                <a:latin typeface="Montserrat" panose="00000500000000000000" pitchFamily="50" charset="0"/>
              </a:rPr>
              <a:t>Port </a:t>
            </a:r>
            <a:r>
              <a:rPr lang="en-IE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addressing at the Transport Layer</a:t>
            </a:r>
            <a:endParaRPr lang="en-GB" sz="2400" dirty="0">
              <a:solidFill>
                <a:schemeClr val="tx1">
                  <a:lumMod val="95000"/>
                  <a:lumOff val="5000"/>
                </a:schemeClr>
              </a:solidFill>
              <a:latin typeface="Montserrat" panose="00000500000000000000" pitchFamily="50" charset="0"/>
            </a:endParaRP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89D11347-874C-7439-BADC-77E382BBC6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1424" y="2638097"/>
            <a:ext cx="5928642" cy="19537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981686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E9E52-C9A4-C80E-8AC5-A1D83524C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7F6A2-D725-FF81-3EE9-B507D25AF5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8025" y="298450"/>
            <a:ext cx="6897688" cy="687388"/>
          </a:xfrm>
        </p:spPr>
        <p:txBody>
          <a:bodyPr rtlCol="0">
            <a:normAutofit/>
          </a:bodyPr>
          <a:lstStyle/>
          <a:p>
            <a:pPr algn="l" eaLnBrk="1" fontAlgn="auto" hangingPunct="1">
              <a:lnSpc>
                <a:spcPct val="60000"/>
              </a:lnSpc>
              <a:spcAft>
                <a:spcPts val="0"/>
              </a:spcAft>
              <a:defRPr/>
            </a:pPr>
            <a:r>
              <a:rPr lang="en-IE" sz="2400" b="1" spc="-150" dirty="0">
                <a:solidFill>
                  <a:srgbClr val="294BF9"/>
                </a:solidFill>
                <a:latin typeface="Montserrat Medium" panose="00000600000000000000" pitchFamily="50" charset="0"/>
              </a:rPr>
              <a:t>MAC address</a:t>
            </a:r>
          </a:p>
        </p:txBody>
      </p:sp>
      <p:sp>
        <p:nvSpPr>
          <p:cNvPr id="15364" name="TextBox 28">
            <a:extLst>
              <a:ext uri="{FF2B5EF4-FFF2-40B4-BE49-F238E27FC236}">
                <a16:creationId xmlns:a16="http://schemas.microsoft.com/office/drawing/2014/main" id="{1C59D8AD-C2EA-4DFF-1259-D4C2C8C454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6200775"/>
            <a:ext cx="6286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fr-FR" altLang="en-IE" sz="2000" dirty="0">
                <a:solidFill>
                  <a:srgbClr val="294BF9"/>
                </a:solidFill>
                <a:latin typeface="Montserrat" pitchFamily="2" charset="77"/>
              </a:rPr>
              <a:t>21</a:t>
            </a:r>
          </a:p>
        </p:txBody>
      </p: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054FCF1C-F9E4-92C6-BF8B-FDA302DA40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908" y="148020"/>
            <a:ext cx="1017866" cy="1108384"/>
          </a:xfrm>
          <a:prstGeom prst="rect">
            <a:avLst/>
          </a:prstGeom>
        </p:spPr>
      </p:pic>
      <p:sp>
        <p:nvSpPr>
          <p:cNvPr id="10" name="TextBox 11">
            <a:extLst>
              <a:ext uri="{FF2B5EF4-FFF2-40B4-BE49-F238E27FC236}">
                <a16:creationId xmlns:a16="http://schemas.microsoft.com/office/drawing/2014/main" id="{8080C135-A731-B031-38C6-3C816236EE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5713" y="6391268"/>
            <a:ext cx="45614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CSC1010: Networks &amp; Internet  </a:t>
            </a:r>
            <a:r>
              <a:rPr lang="ar-MA" altLang="en-IE" sz="1200" dirty="0">
                <a:solidFill>
                  <a:srgbClr val="294BF9"/>
                </a:solidFill>
                <a:latin typeface="Montserrat" pitchFamily="2" charset="77"/>
              </a:rPr>
              <a:t>  </a:t>
            </a: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 | </a:t>
            </a:r>
            <a:r>
              <a:rPr lang="ar-MA" altLang="en-IE" sz="1200" dirty="0">
                <a:solidFill>
                  <a:srgbClr val="294BF9"/>
                </a:solidFill>
                <a:latin typeface="Montserrat" pitchFamily="2" charset="77"/>
              </a:rPr>
              <a:t>  </a:t>
            </a: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  Network models</a:t>
            </a:r>
            <a:endParaRPr lang="fr-FR" altLang="en-IE" sz="1200" dirty="0">
              <a:solidFill>
                <a:srgbClr val="294BF9"/>
              </a:solidFill>
              <a:latin typeface="Montserrat" pitchFamily="2" charset="77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E14B10E2-D6A1-BCB2-D37C-69E463D356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8025" y="1325217"/>
            <a:ext cx="5640223" cy="4875557"/>
          </a:xfrm>
        </p:spPr>
        <p:txBody>
          <a:bodyPr>
            <a:noAutofit/>
          </a:bodyPr>
          <a:lstStyle/>
          <a:p>
            <a:pPr marL="558523" marR="0" lvl="0" indent="-3600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It is used by the Network Access Layer</a:t>
            </a:r>
          </a:p>
          <a:p>
            <a:pPr marL="558523" marR="0" lvl="0" indent="-3600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The address of the network interface card (NIC) used by device</a:t>
            </a:r>
          </a:p>
          <a:p>
            <a:pPr marL="558523" marR="0" lvl="0" indent="-3600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It is called physical because each NIC has a unique MAC imprinted on it that can never change</a:t>
            </a:r>
          </a:p>
          <a:p>
            <a:pPr marL="571500" lvl="1" indent="-342900" algn="l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E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Ethernet uses a 6-bytes (48 bits) MAC address</a:t>
            </a:r>
            <a:endParaRPr lang="en-GB" sz="2400" dirty="0">
              <a:solidFill>
                <a:schemeClr val="tx1">
                  <a:lumMod val="95000"/>
                  <a:lumOff val="5000"/>
                </a:schemeClr>
              </a:solidFill>
              <a:latin typeface="Montserrat" panose="00000500000000000000" pitchFamily="50" charset="0"/>
            </a:endParaRPr>
          </a:p>
        </p:txBody>
      </p:sp>
      <p:pic>
        <p:nvPicPr>
          <p:cNvPr id="1026" name="Picture 2" descr="What is MAC Address? – TecAdmin">
            <a:extLst>
              <a:ext uri="{FF2B5EF4-FFF2-40B4-BE49-F238E27FC236}">
                <a16:creationId xmlns:a16="http://schemas.microsoft.com/office/drawing/2014/main" id="{6ABDC832-5F7E-BAD7-143B-398F20F076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0551" y="2076014"/>
            <a:ext cx="5640223" cy="3199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14315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C3D69-BFA1-4DEF-2B62-C69463418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E1752-5753-7D3B-612F-548C527D9A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8025" y="298450"/>
            <a:ext cx="6897688" cy="687388"/>
          </a:xfrm>
        </p:spPr>
        <p:txBody>
          <a:bodyPr rtlCol="0">
            <a:normAutofit/>
          </a:bodyPr>
          <a:lstStyle/>
          <a:p>
            <a:pPr algn="l" eaLnBrk="1" fontAlgn="auto" hangingPunct="1">
              <a:lnSpc>
                <a:spcPct val="60000"/>
              </a:lnSpc>
              <a:spcAft>
                <a:spcPts val="0"/>
              </a:spcAft>
              <a:defRPr/>
            </a:pPr>
            <a:r>
              <a:rPr lang="en-IE" sz="2400" b="1" spc="-150" dirty="0">
                <a:solidFill>
                  <a:srgbClr val="294BF9"/>
                </a:solidFill>
                <a:latin typeface="Montserrat Medium" panose="00000600000000000000" pitchFamily="50" charset="0"/>
              </a:rPr>
              <a:t>IP address</a:t>
            </a:r>
          </a:p>
        </p:txBody>
      </p:sp>
      <p:sp>
        <p:nvSpPr>
          <p:cNvPr id="15364" name="TextBox 28">
            <a:extLst>
              <a:ext uri="{FF2B5EF4-FFF2-40B4-BE49-F238E27FC236}">
                <a16:creationId xmlns:a16="http://schemas.microsoft.com/office/drawing/2014/main" id="{EC4F48C0-FD97-A89D-C371-ECEA79277E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6200775"/>
            <a:ext cx="6286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fr-FR" altLang="en-IE" sz="2000" dirty="0">
                <a:solidFill>
                  <a:srgbClr val="294BF9"/>
                </a:solidFill>
                <a:latin typeface="Montserrat" pitchFamily="2" charset="77"/>
              </a:rPr>
              <a:t>22</a:t>
            </a:r>
          </a:p>
        </p:txBody>
      </p: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7613C170-A866-913D-5067-279250B34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908" y="148020"/>
            <a:ext cx="1017866" cy="1108384"/>
          </a:xfrm>
          <a:prstGeom prst="rect">
            <a:avLst/>
          </a:prstGeom>
        </p:spPr>
      </p:pic>
      <p:sp>
        <p:nvSpPr>
          <p:cNvPr id="10" name="TextBox 11">
            <a:extLst>
              <a:ext uri="{FF2B5EF4-FFF2-40B4-BE49-F238E27FC236}">
                <a16:creationId xmlns:a16="http://schemas.microsoft.com/office/drawing/2014/main" id="{8A9E0E09-1AEE-BB10-B225-68696DBB3F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5713" y="6391268"/>
            <a:ext cx="45614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CSC1010: Networks &amp; Internet  </a:t>
            </a:r>
            <a:r>
              <a:rPr lang="ar-MA" altLang="en-IE" sz="1200" dirty="0">
                <a:solidFill>
                  <a:srgbClr val="294BF9"/>
                </a:solidFill>
                <a:latin typeface="Montserrat" pitchFamily="2" charset="77"/>
              </a:rPr>
              <a:t>  </a:t>
            </a: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 | </a:t>
            </a:r>
            <a:r>
              <a:rPr lang="ar-MA" altLang="en-IE" sz="1200" dirty="0">
                <a:solidFill>
                  <a:srgbClr val="294BF9"/>
                </a:solidFill>
                <a:latin typeface="Montserrat" pitchFamily="2" charset="77"/>
              </a:rPr>
              <a:t>  </a:t>
            </a: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  Network models</a:t>
            </a:r>
            <a:endParaRPr lang="fr-FR" altLang="en-IE" sz="1200" dirty="0">
              <a:solidFill>
                <a:srgbClr val="294BF9"/>
              </a:solidFill>
              <a:latin typeface="Montserrat" pitchFamily="2" charset="77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C8E7B36-4F18-F08E-595E-18096D6EE4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8025" y="1656624"/>
            <a:ext cx="6996058" cy="4334424"/>
          </a:xfrm>
        </p:spPr>
        <p:txBody>
          <a:bodyPr>
            <a:noAutofit/>
          </a:bodyPr>
          <a:lstStyle/>
          <a:p>
            <a:pPr marL="558523" marR="0" lvl="0" indent="-3600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It is used by the Internet Layer</a:t>
            </a:r>
          </a:p>
          <a:p>
            <a:pPr marL="558523" marR="0" lvl="0" indent="-3600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It specifies the network, and the hosts connected to it</a:t>
            </a:r>
          </a:p>
          <a:p>
            <a:pPr marL="558523" indent="-360000" algn="l" eaLnBrk="1" fontAlgn="auto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Font typeface="Arial" pitchFamily="34" charset="0"/>
              <a:buChar char="•"/>
              <a:defRPr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It is called a logical address because it’s not permanent </a:t>
            </a:r>
          </a:p>
          <a:p>
            <a:pPr marL="558523" marR="0" lvl="0" indent="-3600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No two devices connected to the network/Internet can have the same IP address</a:t>
            </a:r>
          </a:p>
          <a:p>
            <a:pPr marL="558523" marR="0" lvl="0" indent="-3600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It is either 32 or 128 bits long, depending on the Internet Protocol version used</a:t>
            </a:r>
          </a:p>
          <a:p>
            <a:pPr marL="198523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tabLst/>
              <a:defRPr/>
            </a:pPr>
            <a:endParaRPr lang="en-GB" dirty="0">
              <a:solidFill>
                <a:schemeClr val="tx1">
                  <a:lumMod val="95000"/>
                  <a:lumOff val="5000"/>
                </a:schemeClr>
              </a:solidFill>
              <a:latin typeface="Montserrat" panose="00000500000000000000" pitchFamily="50" charset="0"/>
            </a:endParaRP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06297EB6-CDC7-A308-26BE-C7FFE39F8D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4083" y="2627483"/>
            <a:ext cx="4284717" cy="1929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697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A86A6-3DB7-9537-0217-A3EDDFB29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1FB10-66E8-2DEA-5F38-2EBB50EE62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8025" y="298450"/>
            <a:ext cx="6897688" cy="687388"/>
          </a:xfrm>
        </p:spPr>
        <p:txBody>
          <a:bodyPr rtlCol="0">
            <a:normAutofit/>
          </a:bodyPr>
          <a:lstStyle/>
          <a:p>
            <a:pPr algn="l" eaLnBrk="1" fontAlgn="auto" hangingPunct="1">
              <a:lnSpc>
                <a:spcPct val="60000"/>
              </a:lnSpc>
              <a:spcAft>
                <a:spcPts val="0"/>
              </a:spcAft>
              <a:defRPr/>
            </a:pPr>
            <a:r>
              <a:rPr lang="en-IE" sz="2400" b="1" spc="-150" dirty="0">
                <a:solidFill>
                  <a:srgbClr val="294BF9"/>
                </a:solidFill>
                <a:latin typeface="Montserrat Medium" panose="00000600000000000000" pitchFamily="50" charset="0"/>
              </a:rPr>
              <a:t>Port address</a:t>
            </a:r>
          </a:p>
        </p:txBody>
      </p:sp>
      <p:sp>
        <p:nvSpPr>
          <p:cNvPr id="15364" name="TextBox 28">
            <a:extLst>
              <a:ext uri="{FF2B5EF4-FFF2-40B4-BE49-F238E27FC236}">
                <a16:creationId xmlns:a16="http://schemas.microsoft.com/office/drawing/2014/main" id="{F12F0A11-0AE9-487E-A81B-5A08E96EF9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6200775"/>
            <a:ext cx="6286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fr-FR" altLang="en-IE" sz="2000" dirty="0">
                <a:solidFill>
                  <a:srgbClr val="294BF9"/>
                </a:solidFill>
                <a:latin typeface="Montserrat" pitchFamily="2" charset="77"/>
              </a:rPr>
              <a:t>23</a:t>
            </a:r>
          </a:p>
        </p:txBody>
      </p: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A93AB704-8186-266B-A142-97638DAC1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908" y="148020"/>
            <a:ext cx="1017866" cy="1108384"/>
          </a:xfrm>
          <a:prstGeom prst="rect">
            <a:avLst/>
          </a:prstGeom>
        </p:spPr>
      </p:pic>
      <p:sp>
        <p:nvSpPr>
          <p:cNvPr id="10" name="TextBox 11">
            <a:extLst>
              <a:ext uri="{FF2B5EF4-FFF2-40B4-BE49-F238E27FC236}">
                <a16:creationId xmlns:a16="http://schemas.microsoft.com/office/drawing/2014/main" id="{1C1B6357-85E6-3DF8-832A-D124D1479E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5713" y="6391268"/>
            <a:ext cx="45614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CSC1010: Networks &amp; Internet  </a:t>
            </a:r>
            <a:r>
              <a:rPr lang="ar-MA" altLang="en-IE" sz="1200" dirty="0">
                <a:solidFill>
                  <a:srgbClr val="294BF9"/>
                </a:solidFill>
                <a:latin typeface="Montserrat" pitchFamily="2" charset="77"/>
              </a:rPr>
              <a:t>  </a:t>
            </a: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 | </a:t>
            </a:r>
            <a:r>
              <a:rPr lang="ar-MA" altLang="en-IE" sz="1200" dirty="0">
                <a:solidFill>
                  <a:srgbClr val="294BF9"/>
                </a:solidFill>
                <a:latin typeface="Montserrat" pitchFamily="2" charset="77"/>
              </a:rPr>
              <a:t>  </a:t>
            </a: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  Network models</a:t>
            </a:r>
            <a:endParaRPr lang="fr-FR" altLang="en-IE" sz="1200" dirty="0">
              <a:solidFill>
                <a:srgbClr val="294BF9"/>
              </a:solidFill>
              <a:latin typeface="Montserrat" pitchFamily="2" charset="77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56AFA639-2D79-3E2F-3259-1F4DB6A3D3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8026" y="1933623"/>
            <a:ext cx="5230320" cy="3826046"/>
          </a:xfrm>
        </p:spPr>
        <p:txBody>
          <a:bodyPr>
            <a:noAutofit/>
          </a:bodyPr>
          <a:lstStyle/>
          <a:p>
            <a:pPr marL="558523" marR="0" lvl="0" indent="-3600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18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It is used at the Transport Layer</a:t>
            </a:r>
          </a:p>
          <a:p>
            <a:pPr marL="558523" marR="0" lvl="0" indent="-3600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18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It identifies processes at the application layer</a:t>
            </a:r>
          </a:p>
          <a:p>
            <a:pPr marL="558523" marR="0" lvl="0" indent="-3600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18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It is used to know to which process should the data message be delivered to</a:t>
            </a:r>
          </a:p>
          <a:p>
            <a:pPr marL="558523" marR="0" lvl="0" indent="-3600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18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It is either 2 bytes (16 bits) long</a:t>
            </a:r>
          </a:p>
        </p:txBody>
      </p:sp>
      <p:pic>
        <p:nvPicPr>
          <p:cNvPr id="3074" name="Picture 2" descr="EmbeddedGeeKs - Network Ports">
            <a:extLst>
              <a:ext uri="{FF2B5EF4-FFF2-40B4-BE49-F238E27FC236}">
                <a16:creationId xmlns:a16="http://schemas.microsoft.com/office/drawing/2014/main" id="{1AD634C6-B7EE-91BA-5DB6-BF78FF8FF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5846" y="2078979"/>
            <a:ext cx="6279522" cy="3489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60712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3" name="Picture 4">
            <a:extLst>
              <a:ext uri="{FF2B5EF4-FFF2-40B4-BE49-F238E27FC236}">
                <a16:creationId xmlns:a16="http://schemas.microsoft.com/office/drawing/2014/main" id="{9EF9CE5D-2CD4-A778-21F9-AF334E4F6D7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0"/>
            <a:ext cx="1218565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4" name="Picture 9" descr="A black circle with white lines&#10;&#10;Description automatically generated">
            <a:extLst>
              <a:ext uri="{FF2B5EF4-FFF2-40B4-BE49-F238E27FC236}">
                <a16:creationId xmlns:a16="http://schemas.microsoft.com/office/drawing/2014/main" id="{F5CE9AB0-DA27-B625-3324-D31CAB0141E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" y="-1866900"/>
            <a:ext cx="10591800" cy="1059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5" name="TextBox 12">
            <a:extLst>
              <a:ext uri="{FF2B5EF4-FFF2-40B4-BE49-F238E27FC236}">
                <a16:creationId xmlns:a16="http://schemas.microsoft.com/office/drawing/2014/main" id="{410A1117-C895-7F95-D779-BB98A9C7EF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2921000"/>
            <a:ext cx="60960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fr-FR" altLang="en-IE" sz="6000" dirty="0">
                <a:solidFill>
                  <a:schemeClr val="bg1"/>
                </a:solidFill>
                <a:latin typeface="Montserrat Black" pitchFamily="2" charset="77"/>
              </a:rPr>
              <a:t>THANK YOU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71158C56-C02D-CA7C-BAE0-C24166CCB1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42908" y="148020"/>
            <a:ext cx="1017866" cy="1108384"/>
          </a:xfrm>
          <a:prstGeom prst="rect">
            <a:avLst/>
          </a:prstGeom>
        </p:spPr>
      </p:pic>
      <p:sp>
        <p:nvSpPr>
          <p:cNvPr id="5" name="TextBox 16">
            <a:extLst>
              <a:ext uri="{FF2B5EF4-FFF2-40B4-BE49-F238E27FC236}">
                <a16:creationId xmlns:a16="http://schemas.microsoft.com/office/drawing/2014/main" id="{E1563828-C8C2-38EF-6584-93463AF250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5087" y="6421050"/>
            <a:ext cx="468373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IE" sz="1200" dirty="0">
                <a:solidFill>
                  <a:schemeClr val="bg1"/>
                </a:solidFill>
                <a:latin typeface="Montserrat" pitchFamily="2" charset="77"/>
              </a:rPr>
              <a:t>CSC 1010: Networks &amp; Internet  </a:t>
            </a:r>
            <a:r>
              <a:rPr lang="ar-MA" altLang="en-IE" sz="1200" dirty="0">
                <a:solidFill>
                  <a:schemeClr val="bg1"/>
                </a:solidFill>
                <a:latin typeface="Montserrat" pitchFamily="2" charset="77"/>
              </a:rPr>
              <a:t>  </a:t>
            </a:r>
            <a:r>
              <a:rPr lang="en-US" altLang="en-IE" sz="1200" dirty="0">
                <a:solidFill>
                  <a:schemeClr val="bg1"/>
                </a:solidFill>
                <a:latin typeface="Montserrat" pitchFamily="2" charset="77"/>
              </a:rPr>
              <a:t> | </a:t>
            </a:r>
            <a:r>
              <a:rPr lang="ar-MA" altLang="en-IE" sz="1200" dirty="0">
                <a:solidFill>
                  <a:schemeClr val="bg1"/>
                </a:solidFill>
                <a:latin typeface="Montserrat" pitchFamily="2" charset="77"/>
              </a:rPr>
              <a:t>  </a:t>
            </a:r>
            <a:r>
              <a:rPr lang="en-US" altLang="en-IE" sz="1200" dirty="0">
                <a:solidFill>
                  <a:schemeClr val="bg1"/>
                </a:solidFill>
                <a:latin typeface="Montserrat" pitchFamily="2" charset="77"/>
              </a:rPr>
              <a:t>  Network Models</a:t>
            </a:r>
            <a:endParaRPr lang="fr-FR" altLang="en-IE" sz="1200" dirty="0">
              <a:solidFill>
                <a:schemeClr val="bg1"/>
              </a:solidFill>
              <a:latin typeface="Montserrat" pitchFamily="2" charset="7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S 04.potm" id="{08C18694-8C13-4171-8942-D7EB2D7CD1DD}" vid="{EBB5CD0B-7472-4764-B38A-8AED69D4C7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8029</TotalTime>
  <Words>1166</Words>
  <Application>Microsoft Macintosh PowerPoint</Application>
  <PresentationFormat>Widescreen</PresentationFormat>
  <Paragraphs>205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Calibri</vt:lpstr>
      <vt:lpstr>Calibri Light</vt:lpstr>
      <vt:lpstr>Montserrat</vt:lpstr>
      <vt:lpstr>Montserrat Black</vt:lpstr>
      <vt:lpstr>Montserrat Medium</vt:lpstr>
      <vt:lpstr>Office Theme</vt:lpstr>
      <vt:lpstr>CSC 1010 Networks &amp; Internet</vt:lpstr>
      <vt:lpstr>Learning outcomes</vt:lpstr>
      <vt:lpstr>Layered communication</vt:lpstr>
      <vt:lpstr>Layered communication</vt:lpstr>
      <vt:lpstr>Network communication models</vt:lpstr>
      <vt:lpstr>OSI model</vt:lpstr>
      <vt:lpstr>Application layer</vt:lpstr>
      <vt:lpstr>Presentation layer</vt:lpstr>
      <vt:lpstr>Session layer </vt:lpstr>
      <vt:lpstr>Transport layer</vt:lpstr>
      <vt:lpstr>Network layer</vt:lpstr>
      <vt:lpstr>Data link layer</vt:lpstr>
      <vt:lpstr>Physical layer</vt:lpstr>
      <vt:lpstr>Data encapsulation/de-encapsulation</vt:lpstr>
      <vt:lpstr>TCP/IP model</vt:lpstr>
      <vt:lpstr>OSI vs. TCP/IP</vt:lpstr>
      <vt:lpstr>TCP/IP model</vt:lpstr>
      <vt:lpstr>Protocols</vt:lpstr>
      <vt:lpstr>TCP/IP data encapsulation</vt:lpstr>
      <vt:lpstr>Addressing</vt:lpstr>
      <vt:lpstr>MAC address</vt:lpstr>
      <vt:lpstr>IP address</vt:lpstr>
      <vt:lpstr>Port address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04: Databases</dc:title>
  <dc:creator>Omar MAKIL</dc:creator>
  <cp:lastModifiedBy>Mohammed Amine Togou</cp:lastModifiedBy>
  <cp:revision>67</cp:revision>
  <dcterms:created xsi:type="dcterms:W3CDTF">2023-07-12T08:21:59Z</dcterms:created>
  <dcterms:modified xsi:type="dcterms:W3CDTF">2026-01-14T19:53:57Z</dcterms:modified>
</cp:coreProperties>
</file>