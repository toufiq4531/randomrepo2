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79" r:id="rId6"/>
    <p:sldId id="280" r:id="rId7"/>
    <p:sldId id="281" r:id="rId8"/>
    <p:sldId id="283" r:id="rId9"/>
    <p:sldId id="284" r:id="rId10"/>
    <p:sldId id="261" r:id="rId11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A5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3EA9-0D11-4A9F-5F19-F914CC9F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F96FF7-2149-FA43-8D9F-0C8AF9AA8384}" type="datetimeFigureOut">
              <a:rPr lang="fr-FR"/>
              <a:pPr>
                <a:defRPr/>
              </a:pPr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215F6-917C-EF67-E034-FF1D565EE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4A0C1-FBB3-4F38-519A-33D394157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4F142-9742-334F-8D18-5F26B9CFFC85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139504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9AC5A-EE92-A27F-4C7F-112362B5F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4A2D6-BBF3-A64C-A879-70BCA23FDEE3}" type="datetimeFigureOut">
              <a:rPr lang="fr-FR"/>
              <a:pPr>
                <a:defRPr/>
              </a:pPr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4AEE8-F43F-08A1-1FF0-04A92A582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914AC-2F1B-DE91-42C2-D5FAFDE4D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7FD080-26C3-0840-92FE-852702D891ED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312458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11B8F-BB05-A96D-B4E2-27CC925DA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520D8-1DED-9345-8673-1796B2F0A621}" type="datetimeFigureOut">
              <a:rPr lang="fr-FR"/>
              <a:pPr>
                <a:defRPr/>
              </a:pPr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0A118-675D-4A94-5F00-A055E124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4A4E4-AA43-EDE6-5D1D-EC44C00B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B1245-2E34-9440-A70A-9EE4106C0E61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215602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4188709-5784-8331-D3C7-BA5CC4C1E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BD962-28DA-A34B-9F68-5E75A0D13192}" type="datetimeFigureOut">
              <a:rPr lang="fr-FR"/>
              <a:pPr>
                <a:defRPr/>
              </a:pPr>
              <a:t>12/01/2026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5330710-3224-4918-949C-E4F657C39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7DCD74B-F615-1A05-FC13-041E2DFB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89D02-0E26-4C48-8922-EEFEF28F99B4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715946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4084CE4-3D97-3492-E79D-0BCA57F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F49284-EC1D-9947-9DF7-ADCB7A866B4B}" type="datetimeFigureOut">
              <a:rPr lang="fr-FR"/>
              <a:pPr>
                <a:defRPr/>
              </a:pPr>
              <a:t>12/01/2026</a:t>
            </a:fld>
            <a:endParaRPr lang="fr-FR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66E978A-373F-C864-CF9E-84A07CD46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1CD06D8-CE77-E111-A3A7-F70C9DE1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BF4C6-6436-944E-A780-1410E82073AB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3719998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7DA813D-07A9-D670-D424-92C2541C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F59AE-E4C6-6044-911A-1641711F56B5}" type="datetimeFigureOut">
              <a:rPr lang="fr-FR"/>
              <a:pPr>
                <a:defRPr/>
              </a:pPr>
              <a:t>12/01/2026</a:t>
            </a:fld>
            <a:endParaRPr lang="fr-FR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DFCF42-F4AD-B993-C657-62D4E410A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865A000-864E-E028-C2F7-7F0ABFC58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68BD9E-45A9-A24F-8086-DB5CC3999D30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151930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99D70E3-211C-325F-CCA4-A7C38053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CBE67E-FD83-ED4C-93D5-9DBEF89D12D9}" type="datetimeFigureOut">
              <a:rPr lang="fr-FR"/>
              <a:pPr>
                <a:defRPr/>
              </a:pPr>
              <a:t>12/01/2026</a:t>
            </a:fld>
            <a:endParaRPr lang="fr-FR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7F5883-EEED-8A65-C1C5-7EEFA0794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B971A5B-1548-E8B2-BA8C-F70DD9096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D66DA-3921-614F-BCDA-1F13F66673FC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612923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E1F3714-278F-F2A0-08CF-8AF781762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DDE70-676F-6548-978D-8BADF8F910B3}" type="datetimeFigureOut">
              <a:rPr lang="fr-FR"/>
              <a:pPr>
                <a:defRPr/>
              </a:pPr>
              <a:t>12/01/2026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23482F-D16E-4435-0618-6BF98937C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7BDA67A-AFCD-7472-D789-7F17132BC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BA2EB1-7554-1F45-98FC-7CBDC5C4FC8F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294635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DD90ADC-5F58-4421-3800-A7807ED3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1FD91-4BB6-AF48-B855-C207EF585055}" type="datetimeFigureOut">
              <a:rPr lang="fr-FR"/>
              <a:pPr>
                <a:defRPr/>
              </a:pPr>
              <a:t>12/01/2026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EA93094-C70D-3FBC-CAAA-08AA702FB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D4B5116-3DE6-60DE-E78D-A0244FE70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02F132-4F2E-FD4C-9D6C-7B7CE8ABD81C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56937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11B97-E185-C8D5-70D0-2C648EE2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E79DD8-D221-F245-A3BF-503243B2445B}" type="datetimeFigureOut">
              <a:rPr lang="fr-FR"/>
              <a:pPr>
                <a:defRPr/>
              </a:pPr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55A43-946F-271D-B12B-7353F9DDD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785AA-554F-B7B9-16B2-F04E1B3E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F6A502-0DC7-1E4F-AEDC-C1226FE2D18E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115487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18476-9290-6B28-6293-77DF5ED4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D8C34-0A72-DC41-9527-8EC6B4D528FB}" type="datetimeFigureOut">
              <a:rPr lang="fr-FR"/>
              <a:pPr>
                <a:defRPr/>
              </a:pPr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A14A1-0E95-F551-8EE9-552FB7DE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B575D-7C44-8ABE-1950-40EA3FA0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F9F42-4C87-F244-B659-1EEB310B0338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  <p:extLst>
      <p:ext uri="{BB962C8B-B14F-4D97-AF65-F5344CB8AC3E}">
        <p14:creationId xmlns:p14="http://schemas.microsoft.com/office/powerpoint/2010/main" val="237055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9735DAC2-1A8B-B1F7-4B5C-E3ACCA75BBD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IE"/>
              <a:t>Click to edit Master title style</a:t>
            </a:r>
            <a:endParaRPr lang="fr-FR" altLang="en-IE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2E8860C-BD47-E70D-6A9E-9B4F3F72C1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IE"/>
              <a:t>Click to edit Master text styles</a:t>
            </a:r>
          </a:p>
          <a:p>
            <a:pPr lvl="1"/>
            <a:r>
              <a:rPr lang="en-US" altLang="en-IE"/>
              <a:t>Second level</a:t>
            </a:r>
          </a:p>
          <a:p>
            <a:pPr lvl="2"/>
            <a:r>
              <a:rPr lang="en-US" altLang="en-IE"/>
              <a:t>Third level</a:t>
            </a:r>
          </a:p>
          <a:p>
            <a:pPr lvl="3"/>
            <a:r>
              <a:rPr lang="en-US" altLang="en-IE"/>
              <a:t>Fourth level</a:t>
            </a:r>
          </a:p>
          <a:p>
            <a:pPr lvl="4"/>
            <a:r>
              <a:rPr lang="en-US" altLang="en-IE"/>
              <a:t>Fifth level</a:t>
            </a:r>
            <a:endParaRPr lang="fr-FR" alt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EC22E-76C7-2B10-AC90-32E43DDF7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8B85272-1667-174B-A10F-2A39CA9684C7}" type="datetimeFigureOut">
              <a:rPr lang="fr-FR"/>
              <a:pPr>
                <a:defRPr/>
              </a:pPr>
              <a:t>12/01/2026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6C0BC-AC82-25A5-7CF3-8A008F12A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362DE-2ACC-6CE1-2F24-1944F1D24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D657507-64D1-D546-A406-659ACD6C4181}" type="slidenum">
              <a:rPr lang="fr-FR" altLang="en-MA"/>
              <a:pPr>
                <a:defRPr/>
              </a:pPr>
              <a:t>‹#›</a:t>
            </a:fld>
            <a:endParaRPr lang="fr-FR" altLang="en-M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34" descr="A computer with a white screen">
            <a:extLst>
              <a:ext uri="{FF2B5EF4-FFF2-40B4-BE49-F238E27FC236}">
                <a16:creationId xmlns:a16="http://schemas.microsoft.com/office/drawing/2014/main" id="{89AC8EB6-9632-09B3-6E79-F1C407EB0C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33E6EA-4F7E-8B33-E688-543B6C4A4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5" y="251133"/>
            <a:ext cx="3278415" cy="1412567"/>
          </a:xfrm>
        </p:spPr>
        <p:txBody>
          <a:bodyPr rtlCol="0">
            <a:noAutofit/>
          </a:bodyPr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spc="-150" dirty="0">
                <a:solidFill>
                  <a:schemeClr val="bg1"/>
                </a:solidFill>
                <a:latin typeface="Montserrat" panose="00000500000000000000" pitchFamily="2" charset="0"/>
              </a:rPr>
              <a:t>CSC 1010</a:t>
            </a:r>
            <a:br>
              <a:rPr lang="en-US" sz="2200" spc="-15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en-US" sz="2200" spc="-150" dirty="0">
                <a:solidFill>
                  <a:schemeClr val="bg1"/>
                </a:solidFill>
                <a:latin typeface="Montserrat" panose="00000500000000000000" pitchFamily="2" charset="0"/>
              </a:rPr>
              <a:t>Networks &amp; Internet</a:t>
            </a:r>
            <a:endParaRPr lang="fr-FR" sz="2200" spc="-15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3315" name="Subtitle 2">
            <a:extLst>
              <a:ext uri="{FF2B5EF4-FFF2-40B4-BE49-F238E27FC236}">
                <a16:creationId xmlns:a16="http://schemas.microsoft.com/office/drawing/2014/main" id="{3DAEA46F-6EB4-D8EA-7F7B-EA7D98F65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0717" y="2953679"/>
            <a:ext cx="3008313" cy="536575"/>
          </a:xfrm>
        </p:spPr>
        <p:txBody>
          <a:bodyPr/>
          <a:lstStyle/>
          <a:p>
            <a:pPr algn="l" eaLnBrk="1" hangingPunct="1">
              <a:lnSpc>
                <a:spcPct val="100000"/>
              </a:lnSpc>
            </a:pPr>
            <a:r>
              <a:rPr lang="en-US" altLang="en-US" spc="-150" dirty="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rPr>
              <a:t>Devices</a:t>
            </a:r>
            <a:endParaRPr lang="fr-FR" altLang="en-US" spc="-150" dirty="0">
              <a:solidFill>
                <a:schemeClr val="bg1"/>
              </a:solidFill>
              <a:latin typeface="Montserrat" panose="00000500000000000000" pitchFamily="2" charset="0"/>
              <a:ea typeface="+mj-ea"/>
              <a:cs typeface="+mj-cs"/>
            </a:endParaRPr>
          </a:p>
        </p:txBody>
      </p:sp>
      <p:sp>
        <p:nvSpPr>
          <p:cNvPr id="13316" name="TextBox 10">
            <a:extLst>
              <a:ext uri="{FF2B5EF4-FFF2-40B4-BE49-F238E27FC236}">
                <a16:creationId xmlns:a16="http://schemas.microsoft.com/office/drawing/2014/main" id="{6060747F-4020-07EF-0892-92D37CD39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90" y="2269222"/>
            <a:ext cx="29928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fr-FR" altLang="en-IE" sz="1800" spc="-150" dirty="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+mj-cs"/>
              </a:rPr>
              <a:t>Dr. Mohammed Amine TOGOU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D4B7F6A-9786-0D4F-6FC5-157E9B86CC4A}"/>
              </a:ext>
            </a:extLst>
          </p:cNvPr>
          <p:cNvCxnSpPr/>
          <p:nvPr/>
        </p:nvCxnSpPr>
        <p:spPr>
          <a:xfrm>
            <a:off x="3419475" y="2592388"/>
            <a:ext cx="0" cy="11414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318" name="Picture 22" descr="A white arrow on a black background&#10;&#10;Description automatically generated">
            <a:extLst>
              <a:ext uri="{FF2B5EF4-FFF2-40B4-BE49-F238E27FC236}">
                <a16:creationId xmlns:a16="http://schemas.microsoft.com/office/drawing/2014/main" id="{135E4D8B-D689-C84C-E484-54A44EEA1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725" y="1395413"/>
            <a:ext cx="620713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24" descr="A white arrow pointing to the left&#10;&#10;Description automatically generated">
            <a:extLst>
              <a:ext uri="{FF2B5EF4-FFF2-40B4-BE49-F238E27FC236}">
                <a16:creationId xmlns:a16="http://schemas.microsoft.com/office/drawing/2014/main" id="{CCB4A6B5-6790-0C6D-32D9-5DB7417FC8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288" y="3927475"/>
            <a:ext cx="51117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1" name="TextBox 28">
            <a:extLst>
              <a:ext uri="{FF2B5EF4-FFF2-40B4-BE49-F238E27FC236}">
                <a16:creationId xmlns:a16="http://schemas.microsoft.com/office/drawing/2014/main" id="{DF62BE35-EFA1-0F9F-E5D0-280ADCEB8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chemeClr val="bg1"/>
                </a:solidFill>
                <a:latin typeface="Montserrat" pitchFamily="2" charset="77"/>
              </a:rPr>
              <a:t>1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580C249B-97D9-EA1D-1F47-C8ED9DA54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2908" y="95470"/>
            <a:ext cx="1017866" cy="1108384"/>
          </a:xfrm>
          <a:prstGeom prst="rect">
            <a:avLst/>
          </a:prstGeom>
        </p:spPr>
      </p:pic>
      <p:pic>
        <p:nvPicPr>
          <p:cNvPr id="4" name="Picture 2" descr="Picture showing cables connected to the switch">
            <a:extLst>
              <a:ext uri="{FF2B5EF4-FFF2-40B4-BE49-F238E27FC236}">
                <a16:creationId xmlns:a16="http://schemas.microsoft.com/office/drawing/2014/main" id="{2804282E-5DC2-A70B-885D-0122043BB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030" y="1541721"/>
            <a:ext cx="5732970" cy="360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4">
            <a:extLst>
              <a:ext uri="{FF2B5EF4-FFF2-40B4-BE49-F238E27FC236}">
                <a16:creationId xmlns:a16="http://schemas.microsoft.com/office/drawing/2014/main" id="{538A0F5D-D80B-B1DD-EFE6-FC54C7845C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5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85A464-8B67-B69C-2C23-EDA1FE2C7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US" sz="2400" b="1" spc="-150" dirty="0">
                <a:solidFill>
                  <a:schemeClr val="bg1"/>
                </a:solidFill>
                <a:latin typeface="Montserrat Medium" panose="00000600000000000000" pitchFamily="50" charset="0"/>
              </a:rPr>
              <a:t>Learning outcomes</a:t>
            </a:r>
            <a:endParaRPr lang="fr-FR" sz="2400" b="1" spc="-150" dirty="0">
              <a:solidFill>
                <a:schemeClr val="bg1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14339" name="Subtitle 2">
            <a:extLst>
              <a:ext uri="{FF2B5EF4-FFF2-40B4-BE49-F238E27FC236}">
                <a16:creationId xmlns:a16="http://schemas.microsoft.com/office/drawing/2014/main" id="{095397B2-6DB6-92C2-A0D5-9D114CA96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0005" y="2945463"/>
            <a:ext cx="5474240" cy="1562790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n-IE" sz="1800" dirty="0">
                <a:solidFill>
                  <a:schemeClr val="bg1"/>
                </a:solidFill>
                <a:latin typeface="Montserrat" panose="00000500000000000000" pitchFamily="50" charset="0"/>
              </a:rPr>
              <a:t>• Identify the network devices that can be used to create networks</a:t>
            </a:r>
          </a:p>
          <a:p>
            <a:pPr algn="l">
              <a:lnSpc>
                <a:spcPct val="100000"/>
              </a:lnSpc>
            </a:pPr>
            <a:r>
              <a:rPr lang="en-IE" sz="1800" dirty="0">
                <a:solidFill>
                  <a:schemeClr val="bg1"/>
                </a:solidFill>
                <a:latin typeface="Montserrat" panose="00000500000000000000" pitchFamily="50" charset="0"/>
              </a:rPr>
              <a:t>• Describe the characteristics and roles of these devices</a:t>
            </a:r>
          </a:p>
          <a:p>
            <a:pPr algn="l">
              <a:lnSpc>
                <a:spcPct val="100000"/>
              </a:lnSpc>
            </a:pPr>
            <a:endParaRPr lang="en-IE" sz="1800" dirty="0">
              <a:solidFill>
                <a:schemeClr val="bg1"/>
              </a:solidFill>
              <a:latin typeface="Montserrat" panose="00000500000000000000" pitchFamily="50" charset="0"/>
            </a:endParaRPr>
          </a:p>
          <a:p>
            <a:pPr algn="l">
              <a:lnSpc>
                <a:spcPct val="100000"/>
              </a:lnSpc>
            </a:pPr>
            <a:endParaRPr lang="en-IE" altLang="en-IE" sz="1800" dirty="0">
              <a:solidFill>
                <a:schemeClr val="bg1"/>
              </a:solidFill>
              <a:latin typeface="Montserrat" pitchFamily="2" charset="77"/>
            </a:endParaRPr>
          </a:p>
          <a:p>
            <a:pPr algn="l" eaLnBrk="1" hangingPunct="1">
              <a:lnSpc>
                <a:spcPct val="100000"/>
              </a:lnSpc>
            </a:pPr>
            <a:endParaRPr lang="en-IE" altLang="en-IE" sz="18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14340" name="Picture 22" descr="A white arrow on a black background&#10;&#10;Description automatically generated">
            <a:extLst>
              <a:ext uri="{FF2B5EF4-FFF2-40B4-BE49-F238E27FC236}">
                <a16:creationId xmlns:a16="http://schemas.microsoft.com/office/drawing/2014/main" id="{21CDCAD6-C487-1CEA-0B3F-FBF8EAD9D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073575">
            <a:off x="6426986" y="2386628"/>
            <a:ext cx="643648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24" descr="A white arrow pointing to the left&#10;&#10;Description automatically generated">
            <a:extLst>
              <a:ext uri="{FF2B5EF4-FFF2-40B4-BE49-F238E27FC236}">
                <a16:creationId xmlns:a16="http://schemas.microsoft.com/office/drawing/2014/main" id="{83FF15E0-E373-8060-6831-672C496D7F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558065">
            <a:off x="4776253" y="5496803"/>
            <a:ext cx="512763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26" descr="A white line on a black background&#10;&#10;Description automatically generated">
            <a:extLst>
              <a:ext uri="{FF2B5EF4-FFF2-40B4-BE49-F238E27FC236}">
                <a16:creationId xmlns:a16="http://schemas.microsoft.com/office/drawing/2014/main" id="{85E15090-30CB-A450-3976-A25A342CEF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985770">
            <a:off x="1682363" y="1745747"/>
            <a:ext cx="41275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TextBox 28">
            <a:extLst>
              <a:ext uri="{FF2B5EF4-FFF2-40B4-BE49-F238E27FC236}">
                <a16:creationId xmlns:a16="http://schemas.microsoft.com/office/drawing/2014/main" id="{0D2A8417-8139-B31B-A64C-A9F6C2BD9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chemeClr val="bg1"/>
                </a:solidFill>
                <a:latin typeface="Montserrat" pitchFamily="2" charset="77"/>
              </a:rPr>
              <a:t>2</a:t>
            </a:r>
          </a:p>
        </p:txBody>
      </p:sp>
      <p:pic>
        <p:nvPicPr>
          <p:cNvPr id="14346" name="Picture 13" descr="A group of people working on a project&#10;&#10;Description automatically generated">
            <a:extLst>
              <a:ext uri="{FF2B5EF4-FFF2-40B4-BE49-F238E27FC236}">
                <a16:creationId xmlns:a16="http://schemas.microsoft.com/office/drawing/2014/main" id="{4C2F92D4-FEA2-918D-EC43-3B85609A3A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321" y="1885393"/>
            <a:ext cx="4881562" cy="411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16">
            <a:extLst>
              <a:ext uri="{FF2B5EF4-FFF2-40B4-BE49-F238E27FC236}">
                <a16:creationId xmlns:a16="http://schemas.microsoft.com/office/drawing/2014/main" id="{83A4A615-1CA6-257A-248F-5EABB9039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6758" y="6410877"/>
            <a:ext cx="37155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CSC 1010: Networks &amp; Internet  </a:t>
            </a:r>
            <a:r>
              <a:rPr lang="ar-MA" altLang="en-IE" sz="1200" dirty="0">
                <a:solidFill>
                  <a:schemeClr val="bg1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chemeClr val="bg1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  Devices</a:t>
            </a:r>
            <a:endParaRPr lang="fr-FR" altLang="en-IE" sz="12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5747CBB1-B874-5C1B-910E-E6EBEE96DC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576FD-A619-4C9D-6E31-913543102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Devices 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F86E253E-AF0D-5F07-000B-98E7CCEFA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3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626AACD3-0630-95F8-E34A-BACC054E1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3" name="TextBox 11">
            <a:extLst>
              <a:ext uri="{FF2B5EF4-FFF2-40B4-BE49-F238E27FC236}">
                <a16:creationId xmlns:a16="http://schemas.microsoft.com/office/drawing/2014/main" id="{06000636-7D1F-05C1-085B-811317710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5392" y="6462325"/>
            <a:ext cx="34525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</a:t>
            </a:r>
            <a:r>
              <a:rPr lang="en-GB" altLang="en-IE" sz="1200" dirty="0">
                <a:solidFill>
                  <a:srgbClr val="294BF9"/>
                </a:solidFill>
                <a:latin typeface="Montserrat" pitchFamily="2" charset="77"/>
              </a:rPr>
              <a:t>Devices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612F1AF-A2D0-9E0E-0752-29DC47BAB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807" y="1973770"/>
            <a:ext cx="5732270" cy="3373805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Physical devices used to enable communication and access services </a:t>
            </a:r>
          </a:p>
          <a:p>
            <a:pPr marL="342900" indent="-342900" algn="l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They have different characteristics </a:t>
            </a:r>
          </a:p>
          <a:p>
            <a:pPr marL="342900" indent="-342900" algn="l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They play different roles</a:t>
            </a:r>
          </a:p>
        </p:txBody>
      </p:sp>
      <p:pic>
        <p:nvPicPr>
          <p:cNvPr id="1028" name="Picture 4" descr="Network Devices Explained. There are various types of network… | by  Pradeesh Kumar | Medium">
            <a:extLst>
              <a:ext uri="{FF2B5EF4-FFF2-40B4-BE49-F238E27FC236}">
                <a16:creationId xmlns:a16="http://schemas.microsoft.com/office/drawing/2014/main" id="{13DE30E0-8EBF-1464-1CD7-FF48F8055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076" y="3512321"/>
            <a:ext cx="4052766" cy="237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 Crash Course in Networking - ByteByteGo Newsletter">
            <a:extLst>
              <a:ext uri="{FF2B5EF4-FFF2-40B4-BE49-F238E27FC236}">
                <a16:creationId xmlns:a16="http://schemas.microsoft.com/office/drawing/2014/main" id="{A489E3B5-178A-A4C1-7A41-CEB434988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187" y="1524022"/>
            <a:ext cx="3338721" cy="1700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10C2B-9F59-56D4-AF7D-A8D20B299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E7E45-7224-93E5-490D-88CC1E929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End devices 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E65ABA2B-4E65-1314-06AE-58DDC3E24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4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9E4FF100-8428-EF33-8590-B1491FDDF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C3440A8A-59C8-946B-3308-FFA9A8960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450" y="1626643"/>
            <a:ext cx="5798557" cy="3933326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2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These devices either initiate data transmission or serve as its destination</a:t>
            </a:r>
          </a:p>
          <a:p>
            <a:pPr marL="342900" lvl="1" indent="-342900" algn="l">
              <a:lnSpc>
                <a:spcPct val="12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They have the full protocol stack of the TCP/IP model</a:t>
            </a:r>
          </a:p>
          <a:p>
            <a:pPr marL="342900" lvl="1" indent="-342900" algn="l">
              <a:lnSpc>
                <a:spcPct val="12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They allow multiple applications to run and exchange information </a:t>
            </a:r>
          </a:p>
          <a:p>
            <a:pPr algn="l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A5684DB0-4320-935E-6AFC-76AF36A4E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5392" y="6462325"/>
            <a:ext cx="34525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</a:t>
            </a:r>
            <a:r>
              <a:rPr lang="en-GB" altLang="en-IE" sz="1200" dirty="0">
                <a:solidFill>
                  <a:srgbClr val="294BF9"/>
                </a:solidFill>
                <a:latin typeface="Montserrat" pitchFamily="2" charset="77"/>
              </a:rPr>
              <a:t>Devices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pic>
        <p:nvPicPr>
          <p:cNvPr id="2050" name="Picture 2" descr="A Crash Course in Networking - ByteByteGo Newsletter">
            <a:extLst>
              <a:ext uri="{FF2B5EF4-FFF2-40B4-BE49-F238E27FC236}">
                <a16:creationId xmlns:a16="http://schemas.microsoft.com/office/drawing/2014/main" id="{18E5C83E-741D-CB29-ED78-247F2126C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240" y="2196269"/>
            <a:ext cx="4421187" cy="2251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529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2D532-2200-8693-6AA7-AEEAB2E8B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4C085-7DB5-DE78-B5AD-4301F834E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Network devices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1F593B1F-95F8-D8DC-7A0C-EBBBEAB49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5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D9A5F7D6-E16F-8F49-7DA4-3A3B3A4E1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02F1301-E33C-27F2-64E6-0F7D1D12A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450" y="1626643"/>
            <a:ext cx="5798557" cy="3933326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2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These devices forward data between the transmitter and the receiver</a:t>
            </a:r>
          </a:p>
          <a:p>
            <a:pPr marL="342900" lvl="1" indent="-342900" algn="l">
              <a:lnSpc>
                <a:spcPct val="12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They do  not have the full protocol stack of the TCP/IP model</a:t>
            </a:r>
          </a:p>
          <a:p>
            <a:pPr marL="342900" lvl="1" indent="-342900" algn="l">
              <a:lnSpc>
                <a:spcPct val="12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They play different roles</a:t>
            </a:r>
          </a:p>
          <a:p>
            <a:pPr algn="l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6FB06500-5205-4CC2-D2E2-1716EADF2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5392" y="6462325"/>
            <a:ext cx="34525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</a:t>
            </a:r>
            <a:r>
              <a:rPr lang="en-GB" altLang="en-IE" sz="1200" dirty="0">
                <a:solidFill>
                  <a:srgbClr val="294BF9"/>
                </a:solidFill>
                <a:latin typeface="Montserrat" pitchFamily="2" charset="77"/>
              </a:rPr>
              <a:t>Devices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pic>
        <p:nvPicPr>
          <p:cNvPr id="6" name="Picture 4" descr="Network Devices Explained. There are various types of network… | by  Pradeesh Kumar | Medium">
            <a:extLst>
              <a:ext uri="{FF2B5EF4-FFF2-40B4-BE49-F238E27FC236}">
                <a16:creationId xmlns:a16="http://schemas.microsoft.com/office/drawing/2014/main" id="{01AC70B7-7E66-55EC-373A-6F1057094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370" y="2033067"/>
            <a:ext cx="4766404" cy="279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166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C1227-9E3E-BEA2-9D3C-C0DCD0AA3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9FAD5-8E62-5DCE-B4E1-36E897CB3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Repeater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973449B7-AB39-2420-4070-BEF320479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6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978D12A0-7DFE-AD96-A753-D2242DEC8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3" name="TextBox 11">
            <a:extLst>
              <a:ext uri="{FF2B5EF4-FFF2-40B4-BE49-F238E27FC236}">
                <a16:creationId xmlns:a16="http://schemas.microsoft.com/office/drawing/2014/main" id="{49A6FC88-66E0-D8BB-280B-BA58A1294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5392" y="6462325"/>
            <a:ext cx="34525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</a:t>
            </a:r>
            <a:r>
              <a:rPr lang="en-GB" altLang="en-IE" sz="1200" dirty="0">
                <a:solidFill>
                  <a:srgbClr val="294BF9"/>
                </a:solidFill>
                <a:latin typeface="Montserrat" pitchFamily="2" charset="77"/>
              </a:rPr>
              <a:t>Devices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8EC97B2-EF63-01BF-7FD7-3032F4603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057" y="1711347"/>
            <a:ext cx="5981667" cy="4082702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2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operates at the physical layer</a:t>
            </a:r>
          </a:p>
          <a:p>
            <a:pPr marL="342900" lvl="1" indent="-342900" algn="l">
              <a:lnSpc>
                <a:spcPct val="12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amplify and regenerate the signal</a:t>
            </a:r>
          </a:p>
          <a:p>
            <a:pPr marL="342900" lvl="1" indent="-342900" algn="l">
              <a:lnSpc>
                <a:spcPct val="12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Aim: extend the distance at which the signal can be transmitted </a:t>
            </a:r>
          </a:p>
          <a:p>
            <a:pPr marL="342900" lvl="1" indent="-342900" algn="l">
              <a:lnSpc>
                <a:spcPct val="12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usually have 2 ports</a:t>
            </a:r>
          </a:p>
          <a:p>
            <a:pPr algn="l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9" name="Picture 2" descr="What are Repeaters in Computer Networks? - Shiksha Online">
            <a:extLst>
              <a:ext uri="{FF2B5EF4-FFF2-40B4-BE49-F238E27FC236}">
                <a16:creationId xmlns:a16="http://schemas.microsoft.com/office/drawing/2014/main" id="{E61A927E-2177-0FC8-B6DE-C5892CE1D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7492" y="2563738"/>
            <a:ext cx="4656356" cy="2138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301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95889-2C2C-1ABC-C024-06FF5D629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0220E-4F37-7865-1EFB-2C6446623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Hub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84F84513-AB38-445D-FE53-31EF2958E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7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D358B6C-1A24-3D0E-F2F7-E7E1E04F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3" name="TextBox 11">
            <a:extLst>
              <a:ext uri="{FF2B5EF4-FFF2-40B4-BE49-F238E27FC236}">
                <a16:creationId xmlns:a16="http://schemas.microsoft.com/office/drawing/2014/main" id="{B75E38C2-C066-C815-7396-D49A02FCA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5392" y="6462325"/>
            <a:ext cx="34525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</a:t>
            </a:r>
            <a:r>
              <a:rPr lang="en-GB" altLang="en-IE" sz="1200" dirty="0">
                <a:solidFill>
                  <a:srgbClr val="294BF9"/>
                </a:solidFill>
                <a:latin typeface="Montserrat" pitchFamily="2" charset="77"/>
              </a:rPr>
              <a:t>Devices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C64BAE2-5EFC-36EE-46F7-309126586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450" y="1830638"/>
            <a:ext cx="6089045" cy="3579766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2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operates at the physical layer</a:t>
            </a:r>
          </a:p>
          <a:p>
            <a:pPr marL="342900" indent="-342900" algn="l">
              <a:lnSpc>
                <a:spcPct val="12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is basically a multi-port repeater</a:t>
            </a:r>
          </a:p>
          <a:p>
            <a:pPr marL="342900" indent="-342900" algn="l">
              <a:lnSpc>
                <a:spcPct val="12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Data received from one port will be sent to all connected devices </a:t>
            </a:r>
          </a:p>
          <a:p>
            <a:pPr marL="342900" indent="-342900" algn="l">
              <a:lnSpc>
                <a:spcPct val="12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has no intelligence</a:t>
            </a:r>
          </a:p>
          <a:p>
            <a:pPr algn="l"/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7" name="Picture 2" descr="Network Devices – How Hubs and Switches Work and How to Secure Them">
            <a:extLst>
              <a:ext uri="{FF2B5EF4-FFF2-40B4-BE49-F238E27FC236}">
                <a16:creationId xmlns:a16="http://schemas.microsoft.com/office/drawing/2014/main" id="{E3C6ADC5-5654-BD75-80CE-1C563028A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639" y="1830638"/>
            <a:ext cx="4553149" cy="3229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635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98679-A4D2-A72C-91EF-7F6BC3D9D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BA00A-4777-7FFB-1BB5-FB34D764B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Switch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324F3FFF-E3B0-B753-7FDA-2E36A0F3B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8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0EA027B1-35F2-0925-AABA-91651954E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3" name="TextBox 11">
            <a:extLst>
              <a:ext uri="{FF2B5EF4-FFF2-40B4-BE49-F238E27FC236}">
                <a16:creationId xmlns:a16="http://schemas.microsoft.com/office/drawing/2014/main" id="{837A460A-EFCB-1D99-E827-8560453F6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5392" y="6462325"/>
            <a:ext cx="34525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</a:t>
            </a:r>
            <a:r>
              <a:rPr lang="en-GB" altLang="en-IE" sz="1200" dirty="0">
                <a:solidFill>
                  <a:srgbClr val="294BF9"/>
                </a:solidFill>
                <a:latin typeface="Montserrat" pitchFamily="2" charset="77"/>
              </a:rPr>
              <a:t>Devices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7E88025-A07E-4B09-93B4-778629CF2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557" y="1384555"/>
            <a:ext cx="6748624" cy="4417502"/>
          </a:xfrm>
        </p:spPr>
        <p:txBody>
          <a:bodyPr>
            <a:noAutofit/>
          </a:bodyPr>
          <a:lstStyle/>
          <a:p>
            <a:pPr marL="342900" lvl="0" indent="-342900" algn="l" defTabSz="1200150">
              <a:lnSpc>
                <a:spcPct val="90000"/>
              </a:lnSpc>
              <a:spcBef>
                <a:spcPts val="6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operates at the Data Link layer </a:t>
            </a:r>
          </a:p>
          <a:p>
            <a:pPr marL="342900" lvl="0" indent="-342900" algn="l" defTabSz="1200150">
              <a:lnSpc>
                <a:spcPct val="90000"/>
              </a:lnSpc>
              <a:spcBef>
                <a:spcPts val="6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connects multiple segments of a LAN</a:t>
            </a:r>
          </a:p>
          <a:p>
            <a:pPr marL="342900" lvl="0" indent="-342900" algn="l" defTabSz="1200150">
              <a:lnSpc>
                <a:spcPct val="90000"/>
              </a:lnSpc>
              <a:spcBef>
                <a:spcPts val="6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filters data based on MAC address and forward it through the appropriate port</a:t>
            </a:r>
          </a:p>
          <a:p>
            <a:pPr marL="342900" lvl="0" indent="-342900" algn="l" defTabSz="1200150">
              <a:lnSpc>
                <a:spcPct val="90000"/>
              </a:lnSpc>
              <a:spcBef>
                <a:spcPts val="6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can also perform error checking before forwarding data</a:t>
            </a: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  <a:p>
            <a:pPr marL="342900" indent="-342900" algn="l">
              <a:lnSpc>
                <a:spcPct val="120000"/>
              </a:lnSpc>
              <a:spcBef>
                <a:spcPts val="600"/>
              </a:spcBef>
              <a:spcAft>
                <a:spcPts val="18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Some switches operate at the Network layer. They are called Layer 3 switches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GB" sz="2000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  <a:p>
            <a:pPr algn="l"/>
            <a:endParaRPr lang="en-GB" sz="2000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7" name="Picture 2" descr="An example of network with two switches and single Master | Download  Scientific Diagram">
            <a:extLst>
              <a:ext uri="{FF2B5EF4-FFF2-40B4-BE49-F238E27FC236}">
                <a16:creationId xmlns:a16="http://schemas.microsoft.com/office/drawing/2014/main" id="{9DA4DE9B-8F51-4814-E6F7-637031CFD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2668" y="2252224"/>
            <a:ext cx="4189455" cy="2883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29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7452C-EA84-5E35-C37B-2EF4A2659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8F245-AC1C-CBFA-A426-0B741D5A8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25" y="298450"/>
            <a:ext cx="6897688" cy="687388"/>
          </a:xfrm>
        </p:spPr>
        <p:txBody>
          <a:bodyPr rtlCol="0">
            <a:normAutofit/>
          </a:bodyPr>
          <a:lstStyle/>
          <a:p>
            <a:pPr algn="l" eaLnBrk="1" fontAlgn="auto" hangingPunct="1">
              <a:lnSpc>
                <a:spcPct val="60000"/>
              </a:lnSpc>
              <a:spcAft>
                <a:spcPts val="0"/>
              </a:spcAft>
              <a:defRPr/>
            </a:pPr>
            <a:r>
              <a:rPr lang="en-IE" sz="2400" b="1" spc="-150" dirty="0">
                <a:solidFill>
                  <a:srgbClr val="294BF9"/>
                </a:solidFill>
                <a:latin typeface="Montserrat Medium" panose="00000600000000000000" pitchFamily="50" charset="0"/>
              </a:rPr>
              <a:t>Router</a:t>
            </a:r>
          </a:p>
        </p:txBody>
      </p:sp>
      <p:sp>
        <p:nvSpPr>
          <p:cNvPr id="15364" name="TextBox 28">
            <a:extLst>
              <a:ext uri="{FF2B5EF4-FFF2-40B4-BE49-F238E27FC236}">
                <a16:creationId xmlns:a16="http://schemas.microsoft.com/office/drawing/2014/main" id="{9189234F-676B-867E-B113-78982AC4C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00775"/>
            <a:ext cx="628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2000" dirty="0">
                <a:solidFill>
                  <a:srgbClr val="294BF9"/>
                </a:solidFill>
                <a:latin typeface="Montserrat" pitchFamily="2" charset="77"/>
              </a:rPr>
              <a:t>9</a:t>
            </a:r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5D8A065F-EA26-AFF0-0276-176E84D7C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3" name="TextBox 11">
            <a:extLst>
              <a:ext uri="{FF2B5EF4-FFF2-40B4-BE49-F238E27FC236}">
                <a16:creationId xmlns:a16="http://schemas.microsoft.com/office/drawing/2014/main" id="{3E480ED8-DA2E-E3E0-F841-6564B488B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5392" y="6462325"/>
            <a:ext cx="34525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rgbClr val="294BF9"/>
                </a:solidFill>
                <a:latin typeface="Montserrat" pitchFamily="2" charset="77"/>
              </a:rPr>
              <a:t>CSC1010: Networks &amp; Internet  | </a:t>
            </a:r>
            <a:r>
              <a:rPr lang="ar-MA" altLang="en-IE" sz="1200" dirty="0">
                <a:solidFill>
                  <a:srgbClr val="294BF9"/>
                </a:solidFill>
                <a:latin typeface="Montserrat" pitchFamily="2" charset="77"/>
              </a:rPr>
              <a:t> </a:t>
            </a:r>
            <a:r>
              <a:rPr lang="en-GB" altLang="en-IE" sz="1200" dirty="0">
                <a:solidFill>
                  <a:srgbClr val="294BF9"/>
                </a:solidFill>
                <a:latin typeface="Montserrat" pitchFamily="2" charset="77"/>
              </a:rPr>
              <a:t>Devices</a:t>
            </a:r>
            <a:endParaRPr lang="fr-FR" altLang="en-IE" sz="1200" dirty="0">
              <a:solidFill>
                <a:srgbClr val="294BF9"/>
              </a:solidFill>
              <a:latin typeface="Montserrat" pitchFamily="2" charset="77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E7AB090-BB0F-F97E-D0E9-F23CE4833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025" y="1385572"/>
            <a:ext cx="5700336" cy="4415468"/>
          </a:xfrm>
        </p:spPr>
        <p:txBody>
          <a:bodyPr>
            <a:noAutofit/>
          </a:bodyPr>
          <a:lstStyle/>
          <a:p>
            <a:pPr marL="342900" lvl="0" indent="-342900" algn="l" defTabSz="1200150">
              <a:lnSpc>
                <a:spcPct val="90000"/>
              </a:lnSpc>
              <a:spcBef>
                <a:spcPts val="6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operates at the Network layer </a:t>
            </a:r>
          </a:p>
          <a:p>
            <a:pPr marL="342900" lvl="0" indent="-342900" algn="l" defTabSz="1200150">
              <a:lnSpc>
                <a:spcPct val="90000"/>
              </a:lnSpc>
              <a:spcBef>
                <a:spcPts val="6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routes data based on IP addresses </a:t>
            </a:r>
          </a:p>
          <a:p>
            <a:pPr marL="342900" lvl="0" indent="-342900" algn="l" defTabSz="1200150">
              <a:lnSpc>
                <a:spcPct val="90000"/>
              </a:lnSpc>
              <a:spcBef>
                <a:spcPts val="6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connects LANs and WANs</a:t>
            </a:r>
          </a:p>
          <a:p>
            <a:pPr marL="342900" lvl="0" indent="-342900" algn="l" defTabSz="1200150">
              <a:lnSpc>
                <a:spcPct val="90000"/>
              </a:lnSpc>
              <a:spcBef>
                <a:spcPts val="6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maintains routing tables, used to route data from source to destination</a:t>
            </a:r>
          </a:p>
          <a:p>
            <a:pPr marL="342900" lvl="0" indent="-342900" algn="l" defTabSz="1200150">
              <a:lnSpc>
                <a:spcPct val="90000"/>
              </a:lnSpc>
              <a:spcBef>
                <a:spcPts val="6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50" charset="0"/>
              </a:rPr>
              <a:t>It can also perform error checking before forwarding data</a:t>
            </a: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50" charset="0"/>
            </a:endParaRPr>
          </a:p>
        </p:txBody>
      </p:sp>
      <p:pic>
        <p:nvPicPr>
          <p:cNvPr id="9" name="Picture 2" descr="What is a Router in Computer Network? - javatpoint">
            <a:extLst>
              <a:ext uri="{FF2B5EF4-FFF2-40B4-BE49-F238E27FC236}">
                <a16:creationId xmlns:a16="http://schemas.microsoft.com/office/drawing/2014/main" id="{01D63366-93B7-7AD1-ADAD-DCE53B28F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235" y="1602828"/>
            <a:ext cx="5473539" cy="3652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676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4">
            <a:extLst>
              <a:ext uri="{FF2B5EF4-FFF2-40B4-BE49-F238E27FC236}">
                <a16:creationId xmlns:a16="http://schemas.microsoft.com/office/drawing/2014/main" id="{9EF9CE5D-2CD4-A778-21F9-AF334E4F6D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5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Picture 9" descr="A black circle with white lines&#10;&#10;Description automatically generated">
            <a:extLst>
              <a:ext uri="{FF2B5EF4-FFF2-40B4-BE49-F238E27FC236}">
                <a16:creationId xmlns:a16="http://schemas.microsoft.com/office/drawing/2014/main" id="{F5CE9AB0-DA27-B625-3324-D31CAB0141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-1866900"/>
            <a:ext cx="10591800" cy="1059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TextBox 12">
            <a:extLst>
              <a:ext uri="{FF2B5EF4-FFF2-40B4-BE49-F238E27FC236}">
                <a16:creationId xmlns:a16="http://schemas.microsoft.com/office/drawing/2014/main" id="{410A1117-C895-7F95-D779-BB98A9C7E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921000"/>
            <a:ext cx="6096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IE" sz="6000" dirty="0">
                <a:solidFill>
                  <a:schemeClr val="bg1"/>
                </a:solidFill>
                <a:latin typeface="Montserrat Black" pitchFamily="2" charset="77"/>
              </a:rPr>
              <a:t>THANK YOU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71158C56-C02D-CA7C-BAE0-C24166CCB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2908" y="148020"/>
            <a:ext cx="1017866" cy="1108384"/>
          </a:xfrm>
          <a:prstGeom prst="rect">
            <a:avLst/>
          </a:prstGeom>
        </p:spPr>
      </p:pic>
      <p:sp>
        <p:nvSpPr>
          <p:cNvPr id="3" name="TextBox 16">
            <a:extLst>
              <a:ext uri="{FF2B5EF4-FFF2-40B4-BE49-F238E27FC236}">
                <a16:creationId xmlns:a16="http://schemas.microsoft.com/office/drawing/2014/main" id="{BAA88F3A-F3B4-82DD-EA7D-15ECA018A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6758" y="6410877"/>
            <a:ext cx="37155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CSC 1010: Networks &amp; Internet  </a:t>
            </a:r>
            <a:r>
              <a:rPr lang="ar-MA" altLang="en-IE" sz="1200" dirty="0">
                <a:solidFill>
                  <a:schemeClr val="bg1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 | </a:t>
            </a:r>
            <a:r>
              <a:rPr lang="ar-MA" altLang="en-IE" sz="1200" dirty="0">
                <a:solidFill>
                  <a:schemeClr val="bg1"/>
                </a:solidFill>
                <a:latin typeface="Montserrat" pitchFamily="2" charset="77"/>
              </a:rPr>
              <a:t>  </a:t>
            </a:r>
            <a:r>
              <a:rPr lang="en-US" altLang="en-IE" sz="1200" dirty="0">
                <a:solidFill>
                  <a:schemeClr val="bg1"/>
                </a:solidFill>
                <a:latin typeface="Montserrat" pitchFamily="2" charset="77"/>
              </a:rPr>
              <a:t>  Devices</a:t>
            </a:r>
            <a:endParaRPr lang="fr-FR" altLang="en-IE" sz="1200" dirty="0">
              <a:solidFill>
                <a:schemeClr val="bg1"/>
              </a:solidFill>
              <a:latin typeface="Montserrat" pitchFamily="2" charset="7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 04.potm" id="{08C18694-8C13-4171-8942-D7EB2D7CD1DD}" vid="{EBB5CD0B-7472-4764-B38A-8AED69D4C7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2019</TotalTime>
  <Words>345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Montserrat</vt:lpstr>
      <vt:lpstr>Montserrat Black</vt:lpstr>
      <vt:lpstr>Montserrat Medium</vt:lpstr>
      <vt:lpstr>Office Theme</vt:lpstr>
      <vt:lpstr>CSC 1010 Networks &amp; Internet</vt:lpstr>
      <vt:lpstr>Learning outcomes</vt:lpstr>
      <vt:lpstr>Devices </vt:lpstr>
      <vt:lpstr>End devices </vt:lpstr>
      <vt:lpstr>Network devices</vt:lpstr>
      <vt:lpstr>Repeater</vt:lpstr>
      <vt:lpstr>Hub</vt:lpstr>
      <vt:lpstr>Switch</vt:lpstr>
      <vt:lpstr>Router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04: Databases</dc:title>
  <dc:creator>Omar MAKIL</dc:creator>
  <cp:lastModifiedBy>Mohammed Amine Togou</cp:lastModifiedBy>
  <cp:revision>59</cp:revision>
  <dcterms:created xsi:type="dcterms:W3CDTF">2023-07-12T08:21:59Z</dcterms:created>
  <dcterms:modified xsi:type="dcterms:W3CDTF">2026-01-12T11:58:47Z</dcterms:modified>
</cp:coreProperties>
</file>